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</p:sldIdLst>
  <p:sldSz cx="12192000" cy="6858000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CBAD"/>
    <a:srgbClr val="FFF2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449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212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CCC995-E95C-4B26-B2F7-C5FA69E16CEE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89F12-D1A1-48DC-8C07-9E56587EFC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802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CCC995-E95C-4B26-B2F7-C5FA69E16CEE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89F12-D1A1-48DC-8C07-9E56587EFC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4818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CCC995-E95C-4B26-B2F7-C5FA69E16CEE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89F12-D1A1-48DC-8C07-9E56587EFC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2268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CCC995-E95C-4B26-B2F7-C5FA69E16CEE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89F12-D1A1-48DC-8C07-9E56587EFC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841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CCC995-E95C-4B26-B2F7-C5FA69E16CEE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89F12-D1A1-48DC-8C07-9E56587EFC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8615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CCC995-E95C-4B26-B2F7-C5FA69E16CEE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89F12-D1A1-48DC-8C07-9E56587EFC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257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CCC995-E95C-4B26-B2F7-C5FA69E16CEE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89F12-D1A1-48DC-8C07-9E56587EFC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534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CCC995-E95C-4B26-B2F7-C5FA69E16CEE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89F12-D1A1-48DC-8C07-9E56587EFC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1357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CCC995-E95C-4B26-B2F7-C5FA69E16CEE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89F12-D1A1-48DC-8C07-9E56587EFC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0401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CCC995-E95C-4B26-B2F7-C5FA69E16CEE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89F12-D1A1-48DC-8C07-9E56587EFC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078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CCC995-E95C-4B26-B2F7-C5FA69E16CEE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89F12-D1A1-48DC-8C07-9E56587EFC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369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CCC995-E95C-4B26-B2F7-C5FA69E16CEE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B89F12-D1A1-48DC-8C07-9E56587EFC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600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image" Target="../media/image3.png"/><Relationship Id="rId39" Type="http://schemas.openxmlformats.org/officeDocument/2006/relationships/image" Target="../media/image17.png"/><Relationship Id="rId3" Type="http://schemas.openxmlformats.org/officeDocument/2006/relationships/image" Target="../media/image2.png"/><Relationship Id="rId34" Type="http://schemas.openxmlformats.org/officeDocument/2006/relationships/image" Target="../media/image11.png"/><Relationship Id="rId25" Type="http://schemas.openxmlformats.org/officeDocument/2006/relationships/image" Target="../media/image21.png"/><Relationship Id="rId33" Type="http://schemas.openxmlformats.org/officeDocument/2006/relationships/image" Target="../media/image10.png"/><Relationship Id="rId12" Type="http://schemas.openxmlformats.org/officeDocument/2006/relationships/image" Target="../media/image110.png"/><Relationship Id="rId38" Type="http://schemas.openxmlformats.org/officeDocument/2006/relationships/image" Target="../media/image16.png"/><Relationship Id="rId2" Type="http://schemas.openxmlformats.org/officeDocument/2006/relationships/image" Target="../media/image1.png"/><Relationship Id="rId29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24" Type="http://schemas.openxmlformats.org/officeDocument/2006/relationships/image" Target="../media/image20.png"/><Relationship Id="rId6" Type="http://schemas.openxmlformats.org/officeDocument/2006/relationships/image" Target="../media/image50.png"/><Relationship Id="rId32" Type="http://schemas.openxmlformats.org/officeDocument/2006/relationships/image" Target="../media/image9.png"/><Relationship Id="rId37" Type="http://schemas.openxmlformats.org/officeDocument/2006/relationships/image" Target="../media/image15.png"/><Relationship Id="rId23" Type="http://schemas.openxmlformats.org/officeDocument/2006/relationships/image" Target="../media/image19.png"/><Relationship Id="rId28" Type="http://schemas.openxmlformats.org/officeDocument/2006/relationships/image" Target="../media/image5.png"/><Relationship Id="rId36" Type="http://schemas.openxmlformats.org/officeDocument/2006/relationships/image" Target="../media/image13.png"/><Relationship Id="rId15" Type="http://schemas.openxmlformats.org/officeDocument/2006/relationships/image" Target="../media/image14.png"/><Relationship Id="rId31" Type="http://schemas.openxmlformats.org/officeDocument/2006/relationships/image" Target="../media/image8.png"/><Relationship Id="rId27" Type="http://schemas.openxmlformats.org/officeDocument/2006/relationships/image" Target="../media/image4.png"/><Relationship Id="rId30" Type="http://schemas.openxmlformats.org/officeDocument/2006/relationships/image" Target="../media/image7.png"/><Relationship Id="rId9" Type="http://schemas.openxmlformats.org/officeDocument/2006/relationships/image" Target="../media/image80.png"/><Relationship Id="rId35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9917596" y="303578"/>
                <a:ext cx="1376176" cy="268984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accent6">
                    <a:lumMod val="50000"/>
                  </a:schemeClr>
                </a:solidFill>
              </a:ln>
              <a:effectLst>
                <a:outerShdw blurRad="50800" dist="50800" dir="5400000" algn="ctr" rotWithShape="0">
                  <a:schemeClr val="tx1"/>
                </a:outerShdw>
              </a:effectLst>
            </p:spPr>
            <p:txBody>
              <a:bodyPr wrap="square" lIns="45720" rIns="4572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⃡"/>
                          <m:ctrlPr>
                            <a:rPr lang="en-US" sz="1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acc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⃡"/>
                          <m:ctrlPr>
                            <a:rPr lang="en-US" sz="1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𝕀</m:t>
                          </m:r>
                        </m:e>
                      </m:acc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+ </m:t>
                      </m:r>
                      <m:acc>
                        <m:accPr>
                          <m:chr m:val="⃡"/>
                          <m:ctrlPr>
                            <a:rPr lang="en-US" sz="1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acc>
                    </m:oMath>
                  </m:oMathPara>
                </a14:m>
                <a:endParaRPr lang="en-US" sz="1000" dirty="0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7596" y="303578"/>
                <a:ext cx="1376176" cy="26898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  <a:effectLst>
                <a:outerShdw blurRad="50800" dist="50800" dir="5400000" algn="ctr" rotWithShape="0">
                  <a:schemeClr val="tx1"/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/>
              <p:cNvSpPr txBox="1"/>
              <p:nvPr/>
            </p:nvSpPr>
            <p:spPr>
              <a:xfrm>
                <a:off x="287771" y="3814874"/>
                <a:ext cx="2111207" cy="287168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5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en-US" sz="105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5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en-US" sz="1050" b="0" i="1" smtClean="0">
                            <a:latin typeface="Cambria Math" panose="02040503050406030204" pitchFamily="18" charset="0"/>
                          </a:rPr>
                          <m:t>𝑏𝑜𝑑𝑦</m:t>
                        </m:r>
                      </m:sub>
                    </m:sSub>
                  </m:oMath>
                </a14:m>
                <a:r>
                  <a:rPr lang="en-US" sz="1050" dirty="0"/>
                  <a:t> - body accelerations (e.g. gravity or E&amp;M)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050" b="0" i="1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sz="1050" dirty="0"/>
                  <a:t> – internal energy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050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050" dirty="0"/>
                  <a:t> – second coefficient of viscosity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05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050" dirty="0"/>
                  <a:t> – dynamic viscosity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05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05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</m:oMath>
                </a14:m>
                <a:r>
                  <a:rPr lang="en-US" sz="1050" dirty="0"/>
                  <a:t> - outward surface normal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05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1050" dirty="0"/>
                  <a:t> – pressure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05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050" dirty="0"/>
                  <a:t> – volumetric heat per mass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105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05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</m:oMath>
                </a14:m>
                <a:r>
                  <a:rPr lang="en-US" sz="1050" dirty="0"/>
                  <a:t> - heat flux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050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50" dirty="0"/>
                  <a:t> – fluid density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⃡"/>
                        <m:ctrlPr>
                          <a:rPr lang="en-US" sz="105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05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acc>
                  </m:oMath>
                </a14:m>
                <a:r>
                  <a:rPr lang="en-US" sz="1050" dirty="0"/>
                  <a:t> – Cauchy stress tensor (aka </a:t>
                </a:r>
                <a14:m>
                  <m:oMath xmlns:m="http://schemas.openxmlformats.org/officeDocument/2006/math">
                    <m:acc>
                      <m:accPr>
                        <m:chr m:val="⃡"/>
                        <m:ctrlPr>
                          <a:rPr lang="en-US" sz="105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05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acc>
                  </m:oMath>
                </a14:m>
                <a:r>
                  <a:rPr lang="en-US" sz="1050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050" b="0" i="1" smtClean="0">
                        <a:latin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050" dirty="0"/>
                  <a:t> – surface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⃡"/>
                        <m:ctrlPr>
                          <a:rPr lang="en-US" sz="105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05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acc>
                  </m:oMath>
                </a14:m>
                <a:r>
                  <a:rPr lang="en-US" sz="1050" dirty="0"/>
                  <a:t> - </a:t>
                </a:r>
                <a:r>
                  <a:rPr lang="en-US" sz="1050" dirty="0" err="1"/>
                  <a:t>deviatoric</a:t>
                </a:r>
                <a:r>
                  <a:rPr lang="en-US" sz="1050" dirty="0"/>
                  <a:t> stress tensor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sz="1050" dirty="0"/>
                  <a:t>T - temperature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050" b="0" i="1" smtClean="0">
                        <a:latin typeface="Cambria Math" panose="02040503050406030204" pitchFamily="18" charset="0"/>
                      </a:rPr>
                      <m:t>𝒱</m:t>
                    </m:r>
                  </m:oMath>
                </a14:m>
                <a:r>
                  <a:rPr lang="en-US" sz="1050" dirty="0"/>
                  <a:t> - volume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105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05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acc>
                  </m:oMath>
                </a14:m>
                <a:r>
                  <a:rPr lang="en-US" sz="1050" dirty="0"/>
                  <a:t> - flow velocity</a:t>
                </a:r>
              </a:p>
            </p:txBody>
          </p:sp>
        </mc:Choice>
        <mc:Fallback xmlns="">
          <p:sp>
            <p:nvSpPr>
              <p:cNvPr id="33" name="TextBox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771" y="3814874"/>
                <a:ext cx="2111207" cy="2871684"/>
              </a:xfrm>
              <a:prstGeom prst="rect">
                <a:avLst/>
              </a:prstGeom>
              <a:blipFill>
                <a:blip r:embed="rId3"/>
                <a:stretch>
                  <a:fillRect r="-7450" b="-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/>
          <p:cNvSpPr txBox="1"/>
          <p:nvPr/>
        </p:nvSpPr>
        <p:spPr>
          <a:xfrm>
            <a:off x="-16229" y="83711"/>
            <a:ext cx="11033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Reynold’s </a:t>
            </a:r>
          </a:p>
          <a:p>
            <a:r>
              <a:rPr lang="en-US" dirty="0"/>
              <a:t>Transport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32055" y="112852"/>
            <a:ext cx="1441243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Cauchy Stress Tensor</a:t>
            </a:r>
          </a:p>
          <a:p>
            <a:r>
              <a:rPr lang="en-US" sz="900" dirty="0"/>
              <a:t>(total = pressure + sticky)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/>
              <p:cNvSpPr txBox="1"/>
              <p:nvPr/>
            </p:nvSpPr>
            <p:spPr>
              <a:xfrm>
                <a:off x="4152898" y="170035"/>
                <a:ext cx="3985955" cy="490071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accent6">
                    <a:lumMod val="50000"/>
                  </a:schemeClr>
                </a:solidFill>
              </a:ln>
              <a:effectLst>
                <a:outerShdw blurRad="50800" dist="50800" dir="5400000" algn="ctr" rotWithShape="0">
                  <a:schemeClr val="tx1"/>
                </a:outerShdw>
              </a:effectLst>
            </p:spPr>
            <p:txBody>
              <a:bodyPr wrap="square" lIns="9144" rIns="9144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nary>
                        <m:naryPr>
                          <m:chr m:val="∰"/>
                          <m:supHide m:val="on"/>
                          <m:ctrlPr>
                            <a:rPr lang="en-US" sz="1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𝒱</m:t>
                          </m:r>
                          <m:d>
                            <m:d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b>
                        <m:sup/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𝒱</m:t>
                          </m:r>
                        </m:e>
                      </m:nary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∰"/>
                          <m:supHide m:val="on"/>
                          <m:ctrlPr>
                            <a:rPr lang="en-US" sz="1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𝒱</m:t>
                          </m:r>
                          <m:d>
                            <m:d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b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000" i="1">
                                      <a:latin typeface="Cambria Math" panose="02040503050406030204" pitchFamily="18" charset="0"/>
                                    </a:rPr>
                                    <m:t>𝐷𝐹</m:t>
                                  </m:r>
                                </m:num>
                                <m:den>
                                  <m:r>
                                    <a:rPr lang="en-US" sz="1000" i="1">
                                      <a:latin typeface="Cambria Math" panose="02040503050406030204" pitchFamily="18" charset="0"/>
                                    </a:rPr>
                                    <m:t>𝐷𝑡</m:t>
                                  </m:r>
                                </m:den>
                              </m:f>
                              <m:r>
                                <a:rPr lang="en-US" sz="1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0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  <m:r>
                                <a:rPr lang="en-US" sz="1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sz="1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000">
                                      <a:latin typeface="Cambria Math" panose="02040503050406030204" pitchFamily="18" charset="0"/>
                                    </a:rPr>
                                    <m:t>∇</m:t>
                                  </m:r>
                                </m:e>
                              </m:acc>
                              <m:r>
                                <a:rPr lang="en-US" sz="10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sz="1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i="1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</m:acc>
                            </m:e>
                          </m:d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𝒱</m:t>
                          </m:r>
                        </m:e>
                      </m:nary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∰"/>
                          <m:supHide m:val="on"/>
                          <m:ctrlPr>
                            <a:rPr lang="en-US" sz="1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𝒱</m:t>
                          </m:r>
                          <m:d>
                            <m:d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b>
                        <m:sup/>
                        <m:e>
                          <m:d>
                            <m:d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num>
                                <m:den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den>
                              </m:f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+ 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0" smtClean="0">
                                      <a:latin typeface="Cambria Math" panose="02040503050406030204" pitchFamily="18" charset="0"/>
                                    </a:rPr>
                                    <m:t>𝛻</m:t>
                                  </m:r>
                                </m:e>
                              </m:acc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d>
                                <m:d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𝒱</m:t>
                      </m:r>
                    </m:oMath>
                  </m:oMathPara>
                </a14:m>
                <a:endParaRPr lang="en-US" sz="1000" dirty="0"/>
              </a:p>
            </p:txBody>
          </p:sp>
        </mc:Choice>
        <mc:Fallback xmlns="">
          <p:sp>
            <p:nvSpPr>
              <p:cNvPr id="40" name="TextBox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898" y="170035"/>
                <a:ext cx="3985955" cy="490071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  <a:effectLst>
                <a:outerShdw blurRad="50800" dist="50800" dir="5400000" algn="ctr" rotWithShape="0">
                  <a:schemeClr val="tx1"/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/>
              <p:cNvSpPr txBox="1"/>
              <p:nvPr/>
            </p:nvSpPr>
            <p:spPr>
              <a:xfrm>
                <a:off x="1144423" y="175863"/>
                <a:ext cx="1111097" cy="38427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accent6">
                    <a:lumMod val="50000"/>
                  </a:schemeClr>
                </a:solidFill>
              </a:ln>
              <a:effectLst>
                <a:outerShdw blurRad="50800" dist="50800" dir="5400000" algn="ctr" rotWithShape="0">
                  <a:schemeClr val="tx1"/>
                </a:outerShdw>
              </a:effectLst>
            </p:spPr>
            <p:txBody>
              <a:bodyPr wrap="square" lIns="45720" rIns="4572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0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𝒱ℴ</m:t>
                          </m:r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ℓ</m:t>
                          </m:r>
                        </m:den>
                      </m:f>
                      <m:f>
                        <m:fPr>
                          <m:ctrlPr>
                            <a:rPr lang="en-US" sz="1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𝒱ℴ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ℓ</m:t>
                          </m:r>
                        </m:num>
                        <m:den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𝐷𝑡</m:t>
                          </m:r>
                        </m:den>
                      </m:f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sz="1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000" b="0" i="0" smtClean="0"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</m:acc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sz="1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acc>
                    </m:oMath>
                  </m:oMathPara>
                </a14:m>
                <a:endParaRPr lang="en-US" sz="1000" dirty="0"/>
              </a:p>
            </p:txBody>
          </p:sp>
        </mc:Choice>
        <mc:Fallback xmlns="">
          <p:sp>
            <p:nvSpPr>
              <p:cNvPr id="41" name="TextBox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423" y="175863"/>
                <a:ext cx="1111097" cy="38427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  <a:effectLst>
                <a:outerShdw blurRad="50800" dist="50800" dir="5400000" algn="ctr" rotWithShape="0">
                  <a:schemeClr val="tx1"/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/>
              <p:cNvSpPr txBox="1"/>
              <p:nvPr/>
            </p:nvSpPr>
            <p:spPr>
              <a:xfrm>
                <a:off x="2868911" y="170035"/>
                <a:ext cx="871802" cy="404726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accent6">
                    <a:lumMod val="50000"/>
                  </a:schemeClr>
                </a:solidFill>
              </a:ln>
              <a:effectLst>
                <a:outerShdw blurRad="50800" dist="50800" dir="5400000" algn="ctr" rotWithShape="0">
                  <a:schemeClr val="tx1"/>
                </a:outerShdw>
              </a:effectLst>
            </p:spPr>
            <p:txBody>
              <a:bodyPr wrap="square" lIns="45720" rIns="4572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0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den>
                      </m:f>
                      <m:f>
                        <m:fPr>
                          <m:ctrlPr>
                            <a:rPr lang="en-US" sz="1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𝐷𝐽</m:t>
                          </m:r>
                        </m:num>
                        <m:den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𝐷𝑡</m:t>
                          </m:r>
                        </m:den>
                      </m:f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sz="1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000" b="0" i="0" smtClean="0"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</m:acc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sz="1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acc>
                    </m:oMath>
                  </m:oMathPara>
                </a14:m>
                <a:endParaRPr lang="en-US" sz="1000" dirty="0"/>
              </a:p>
            </p:txBody>
          </p:sp>
        </mc:Choice>
        <mc:Fallback xmlns="">
          <p:sp>
            <p:nvSpPr>
              <p:cNvPr id="42" name="Text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8911" y="170035"/>
                <a:ext cx="871802" cy="404726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  <a:effectLst>
                <a:outerShdw blurRad="50800" dist="50800" dir="5400000" algn="ctr" rotWithShape="0">
                  <a:schemeClr val="tx1"/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Oval 54"/>
          <p:cNvSpPr/>
          <p:nvPr/>
        </p:nvSpPr>
        <p:spPr>
          <a:xfrm>
            <a:off x="5252706" y="2030409"/>
            <a:ext cx="243617" cy="243617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/>
              <a:t>Lm</a:t>
            </a:r>
          </a:p>
        </p:txBody>
      </p:sp>
      <p:sp>
        <p:nvSpPr>
          <p:cNvPr id="62" name="Oval 61"/>
          <p:cNvSpPr/>
          <p:nvPr/>
        </p:nvSpPr>
        <p:spPr>
          <a:xfrm>
            <a:off x="6102604" y="3249691"/>
            <a:ext cx="243617" cy="243617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 err="1"/>
              <a:t>Em</a:t>
            </a:r>
            <a:endParaRPr lang="en-US" sz="1000" dirty="0"/>
          </a:p>
        </p:txBody>
      </p:sp>
      <p:sp>
        <p:nvSpPr>
          <p:cNvPr id="63" name="Oval 62"/>
          <p:cNvSpPr/>
          <p:nvPr/>
        </p:nvSpPr>
        <p:spPr>
          <a:xfrm>
            <a:off x="4075139" y="1440552"/>
            <a:ext cx="243617" cy="243617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/>
              <a:t>lm</a:t>
            </a:r>
          </a:p>
        </p:txBody>
      </p:sp>
      <p:sp>
        <p:nvSpPr>
          <p:cNvPr id="64" name="Oval 63"/>
          <p:cNvSpPr/>
          <p:nvPr/>
        </p:nvSpPr>
        <p:spPr>
          <a:xfrm>
            <a:off x="4710168" y="2657677"/>
            <a:ext cx="243617" cy="243617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 err="1"/>
              <a:t>em</a:t>
            </a:r>
            <a:endParaRPr lang="en-US" sz="1000" dirty="0"/>
          </a:p>
        </p:txBody>
      </p:sp>
      <p:sp>
        <p:nvSpPr>
          <p:cNvPr id="65" name="Oval 64"/>
          <p:cNvSpPr/>
          <p:nvPr/>
        </p:nvSpPr>
        <p:spPr>
          <a:xfrm>
            <a:off x="1612974" y="2033497"/>
            <a:ext cx="243617" cy="243617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 err="1"/>
              <a:t>Lc</a:t>
            </a:r>
            <a:endParaRPr lang="en-US" sz="1000" dirty="0"/>
          </a:p>
        </p:txBody>
      </p:sp>
      <p:sp>
        <p:nvSpPr>
          <p:cNvPr id="66" name="Oval 65"/>
          <p:cNvSpPr/>
          <p:nvPr/>
        </p:nvSpPr>
        <p:spPr>
          <a:xfrm>
            <a:off x="2323397" y="3265908"/>
            <a:ext cx="243617" cy="243617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 err="1"/>
              <a:t>Ec</a:t>
            </a:r>
            <a:endParaRPr lang="en-US" sz="1000" dirty="0"/>
          </a:p>
        </p:txBody>
      </p:sp>
      <p:sp>
        <p:nvSpPr>
          <p:cNvPr id="67" name="Oval 66"/>
          <p:cNvSpPr/>
          <p:nvPr/>
        </p:nvSpPr>
        <p:spPr>
          <a:xfrm>
            <a:off x="1613450" y="1444176"/>
            <a:ext cx="243617" cy="243617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 err="1"/>
              <a:t>lc</a:t>
            </a:r>
            <a:endParaRPr lang="en-US" sz="1000" dirty="0"/>
          </a:p>
        </p:txBody>
      </p:sp>
      <p:sp>
        <p:nvSpPr>
          <p:cNvPr id="68" name="Oval 67"/>
          <p:cNvSpPr/>
          <p:nvPr/>
        </p:nvSpPr>
        <p:spPr>
          <a:xfrm>
            <a:off x="1749645" y="2660148"/>
            <a:ext cx="243617" cy="243617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 err="1"/>
              <a:t>ec</a:t>
            </a:r>
            <a:endParaRPr lang="en-US" sz="1000" dirty="0"/>
          </a:p>
        </p:txBody>
      </p:sp>
      <p:sp>
        <p:nvSpPr>
          <p:cNvPr id="73" name="Oval 72"/>
          <p:cNvSpPr/>
          <p:nvPr/>
        </p:nvSpPr>
        <p:spPr>
          <a:xfrm>
            <a:off x="2323397" y="246190"/>
            <a:ext cx="243617" cy="243617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 err="1"/>
              <a:t>Rv</a:t>
            </a:r>
            <a:endParaRPr lang="en-US" sz="1000" dirty="0"/>
          </a:p>
        </p:txBody>
      </p:sp>
      <p:sp>
        <p:nvSpPr>
          <p:cNvPr id="74" name="Oval 73"/>
          <p:cNvSpPr/>
          <p:nvPr/>
        </p:nvSpPr>
        <p:spPr>
          <a:xfrm>
            <a:off x="3803791" y="251010"/>
            <a:ext cx="243617" cy="243617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/>
              <a:t>RJ</a:t>
            </a:r>
          </a:p>
        </p:txBody>
      </p:sp>
      <p:sp>
        <p:nvSpPr>
          <p:cNvPr id="75" name="Oval 74"/>
          <p:cNvSpPr/>
          <p:nvPr/>
        </p:nvSpPr>
        <p:spPr>
          <a:xfrm>
            <a:off x="8215055" y="284491"/>
            <a:ext cx="243617" cy="243617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 err="1"/>
              <a:t>Rf</a:t>
            </a:r>
            <a:endParaRPr lang="en-US" sz="1000" dirty="0"/>
          </a:p>
        </p:txBody>
      </p:sp>
      <p:sp>
        <p:nvSpPr>
          <p:cNvPr id="76" name="Oval 75"/>
          <p:cNvSpPr/>
          <p:nvPr/>
        </p:nvSpPr>
        <p:spPr>
          <a:xfrm>
            <a:off x="11351215" y="323595"/>
            <a:ext cx="243617" cy="243617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/>
              <a:t>Cs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483356" y="5139706"/>
            <a:ext cx="3126163" cy="15465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/>
              <a:t>Equation Label Key for Fluid equations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/>
              <a:t>lower case first letter  – differential form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/>
              <a:t>upper case first letter – integral form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/>
              <a:t>first letter ‘l’ or ‘L’ – </a:t>
            </a:r>
            <a:r>
              <a:rPr lang="en-US" sz="1050" dirty="0" err="1"/>
              <a:t>Lagrangian</a:t>
            </a:r>
            <a:r>
              <a:rPr lang="en-US" sz="1050" dirty="0"/>
              <a:t> or non-conservation form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/>
              <a:t>first letter ‘e’ or ‘E’ – Eulerian or conservation form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/>
              <a:t>second letter ‘c’, ‘m’, ‘e’, ‘</a:t>
            </a:r>
            <a:r>
              <a:rPr lang="en-US" sz="1050" dirty="0" err="1"/>
              <a:t>ie</a:t>
            </a:r>
            <a:r>
              <a:rPr lang="en-US" sz="1050" dirty="0"/>
              <a:t>’ for continuity, momentum, total energy, and internal energy respectively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BAD814E-2CD3-16E3-4EF0-A2CBA4B4A3E6}"/>
              </a:ext>
            </a:extLst>
          </p:cNvPr>
          <p:cNvGrpSpPr/>
          <p:nvPr/>
        </p:nvGrpSpPr>
        <p:grpSpPr>
          <a:xfrm>
            <a:off x="5609519" y="3780061"/>
            <a:ext cx="6417360" cy="2191182"/>
            <a:chOff x="5609519" y="3780061"/>
            <a:chExt cx="6417360" cy="21911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/>
                <p:cNvSpPr txBox="1"/>
                <p:nvPr/>
              </p:nvSpPr>
              <p:spPr>
                <a:xfrm>
                  <a:off x="7617534" y="3979743"/>
                  <a:ext cx="1830662" cy="278218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6">
                      <a:lumMod val="50000"/>
                    </a:schemeClr>
                  </a:solidFill>
                </a:ln>
                <a:effectLst>
                  <a:outerShdw blurRad="50800" dist="50800" dir="5400000" algn="ctr" rotWithShape="0">
                    <a:schemeClr val="tx1"/>
                  </a:outerShdw>
                </a:effectLst>
              </p:spPr>
              <p:txBody>
                <a:bodyPr wrap="square" lIns="45720" rIns="4572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⃡"/>
                            <m:ctrlP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d>
                          <m:dPr>
                            <m:ctrlP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⃗"/>
                                <m:ctrlP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000" b="0" i="0" smtClean="0">
                                    <a:latin typeface="Cambria Math" panose="02040503050406030204" pitchFamily="18" charset="0"/>
                                  </a:rPr>
                                  <m:t>𝛻</m:t>
                                </m:r>
                              </m:e>
                            </m:acc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acc>
                              <m:accPr>
                                <m:chr m:val="⃗"/>
                                <m:ctrlP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</m:acc>
                          </m:e>
                        </m:d>
                        <m:acc>
                          <m:accPr>
                            <m:chr m:val="⃡"/>
                            <m:ctrlP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𝕀</m:t>
                            </m:r>
                          </m:e>
                        </m:acc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⃗"/>
                                <m:ctrlP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000" b="0" i="0" smtClean="0">
                                    <a:latin typeface="Cambria Math" panose="02040503050406030204" pitchFamily="18" charset="0"/>
                                  </a:rPr>
                                  <m:t>𝛻</m:t>
                                </m:r>
                              </m:e>
                            </m:acc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acc>
                              <m:accPr>
                                <m:chr m:val="⃗"/>
                                <m:ctrlP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</m:acc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acc>
                              <m:accPr>
                                <m:chr m:val="⃗"/>
                                <m:ctrlP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000" b="0" i="0" smtClean="0">
                                    <a:latin typeface="Cambria Math" panose="02040503050406030204" pitchFamily="18" charset="0"/>
                                  </a:rPr>
                                  <m:t>𝛻</m:t>
                                </m:r>
                              </m:e>
                            </m:acc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p>
                              <m:sSupPr>
                                <m:ctrlP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acc>
                                  <m:accPr>
                                    <m:chr m:val="⃗"/>
                                    <m:ctrlPr>
                                      <a:rPr lang="en-US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1" smtClean="0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</m:acc>
                              </m:e>
                              <m:sup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11" name="TextBox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7534" y="3979743"/>
                  <a:ext cx="1830662" cy="278218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  <a:ln>
                  <a:solidFill>
                    <a:schemeClr val="accent6">
                      <a:lumMod val="50000"/>
                    </a:schemeClr>
                  </a:solidFill>
                </a:ln>
                <a:effectLst>
                  <a:outerShdw blurRad="50800" dist="50800" dir="5400000" algn="ctr" rotWithShape="0">
                    <a:schemeClr val="tx1"/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/>
                <p:cNvSpPr txBox="1"/>
                <p:nvPr/>
              </p:nvSpPr>
              <p:spPr>
                <a:xfrm>
                  <a:off x="7617534" y="4501200"/>
                  <a:ext cx="610614" cy="381451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>
                  <a:solidFill>
                    <a:schemeClr val="accent6">
                      <a:lumMod val="50000"/>
                    </a:schemeClr>
                  </a:solidFill>
                </a:ln>
                <a:effectLst>
                  <a:outerShdw blurRad="50800" dist="50800" dir="5400000" algn="ctr" rotWithShape="0">
                    <a:schemeClr val="tx1"/>
                  </a:outerShdw>
                </a:effectLst>
              </p:spPr>
              <p:txBody>
                <a:bodyPr wrap="square" lIns="45720" rIns="4572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=−</m:t>
                        </m:r>
                        <m:f>
                          <m:fPr>
                            <m:ctrlP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12" name="Text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7534" y="4501200"/>
                  <a:ext cx="610614" cy="381451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  <a:ln>
                  <a:solidFill>
                    <a:schemeClr val="accent6">
                      <a:lumMod val="50000"/>
                    </a:schemeClr>
                  </a:solidFill>
                </a:ln>
                <a:effectLst>
                  <a:outerShdw blurRad="50800" dist="50800" dir="5400000" algn="ctr" rotWithShape="0">
                    <a:schemeClr val="tx1"/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/>
                <p:cNvSpPr txBox="1"/>
                <p:nvPr/>
              </p:nvSpPr>
              <p:spPr>
                <a:xfrm>
                  <a:off x="7617534" y="5131620"/>
                  <a:ext cx="874034" cy="264881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>
                  <a:solidFill>
                    <a:schemeClr val="accent6">
                      <a:lumMod val="50000"/>
                    </a:schemeClr>
                  </a:solidFill>
                </a:ln>
                <a:effectLst>
                  <a:outerShdw blurRad="50800" dist="50800" dir="5400000" algn="ctr" rotWithShape="0">
                    <a:schemeClr val="tx1"/>
                  </a:outerShdw>
                </a:effectLst>
              </p:spPr>
              <p:txBody>
                <a:bodyPr wrap="square" lIns="45720" rIns="4572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smtClean="0">
                                <a:latin typeface="Cambria Math" panose="02040503050406030204" pitchFamily="18" charset="0"/>
                              </a:rPr>
                              <m:t>𝛻</m:t>
                            </m:r>
                          </m:e>
                        </m:acc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acc>
                          <m:accPr>
                            <m:chr m:val="⃗"/>
                            <m:ctrlP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17" name="Text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7534" y="5131620"/>
                  <a:ext cx="874034" cy="264881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  <a:ln>
                  <a:solidFill>
                    <a:schemeClr val="accent6">
                      <a:lumMod val="50000"/>
                    </a:schemeClr>
                  </a:solidFill>
                </a:ln>
                <a:effectLst>
                  <a:outerShdw blurRad="50800" dist="50800" dir="5400000" algn="ctr" rotWithShape="0">
                    <a:schemeClr val="tx1"/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TextBox 29"/>
            <p:cNvSpPr txBox="1"/>
            <p:nvPr/>
          </p:nvSpPr>
          <p:spPr>
            <a:xfrm>
              <a:off x="5609519" y="3935125"/>
              <a:ext cx="21031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Newtonian Fluids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609519" y="4507260"/>
              <a:ext cx="21031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Stokes’s</a:t>
              </a:r>
              <a:r>
                <a:rPr lang="en-US" dirty="0"/>
                <a:t> Hypothesis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609519" y="5079395"/>
              <a:ext cx="28703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Incompressibility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/>
                <p:cNvSpPr txBox="1"/>
                <p:nvPr/>
              </p:nvSpPr>
              <p:spPr>
                <a:xfrm>
                  <a:off x="9410959" y="4377768"/>
                  <a:ext cx="2615920" cy="438133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FFF2CC"/>
                    </a:gs>
                    <a:gs pos="100000">
                      <a:srgbClr val="F8CBAD"/>
                    </a:gs>
                  </a:gsLst>
                  <a:lin ang="5400000" scaled="1"/>
                  <a:tileRect/>
                </a:gradFill>
                <a:ln>
                  <a:solidFill>
                    <a:schemeClr val="accent6">
                      <a:lumMod val="50000"/>
                    </a:schemeClr>
                  </a:solidFill>
                </a:ln>
                <a:effectLst>
                  <a:outerShdw blurRad="50800" dist="50800" dir="5400000" algn="ctr" rotWithShape="0">
                    <a:schemeClr val="tx1"/>
                  </a:outerShdw>
                </a:effectLst>
              </p:spPr>
              <p:txBody>
                <a:bodyPr wrap="square" lIns="45720" rIns="4572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𝑡h𝑒𝑟𝑚𝑜</m:t>
                            </m:r>
                          </m:sub>
                        </m:sSub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=−</m:t>
                        </m:r>
                        <m:f>
                          <m:fPr>
                            <m:ctrlP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𝑇𝑟</m:t>
                        </m:r>
                        <m:d>
                          <m:dPr>
                            <m:ctrlP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⃡"/>
                                <m:ctrlP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acc>
                          </m:e>
                        </m:d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num>
                              <m:den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</m:d>
                        <m:d>
                          <m:dPr>
                            <m:ctrlP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⃗"/>
                                <m:ctrlP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000" b="0" i="0" smtClean="0">
                                    <a:latin typeface="Cambria Math" panose="02040503050406030204" pitchFamily="18" charset="0"/>
                                  </a:rPr>
                                  <m:t>𝛻</m:t>
                                </m:r>
                              </m:e>
                            </m:acc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acc>
                              <m:accPr>
                                <m:chr m:val="⃗"/>
                                <m:ctrlP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</m:acc>
                          </m:e>
                        </m:d>
                      </m:oMath>
                    </m:oMathPara>
                  </a14:m>
                  <a:endParaRPr lang="en-US" sz="1000" dirty="0"/>
                </a:p>
              </p:txBody>
            </p:sp>
          </mc:Choice>
          <mc:Fallback>
            <p:sp>
              <p:nvSpPr>
                <p:cNvPr id="34" name="TextBox 3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10959" y="4377768"/>
                  <a:ext cx="2615920" cy="438133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  <a:ln>
                  <a:solidFill>
                    <a:schemeClr val="accent6">
                      <a:lumMod val="50000"/>
                    </a:schemeClr>
                  </a:solidFill>
                </a:ln>
                <a:effectLst>
                  <a:outerShdw blurRad="50800" dist="50800" dir="5400000" algn="ctr" rotWithShape="0">
                    <a:schemeClr val="tx1"/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Elbow Connector 2"/>
            <p:cNvCxnSpPr>
              <a:cxnSpLocks/>
              <a:stCxn id="11" idx="3"/>
              <a:endCxn id="34" idx="0"/>
            </p:cNvCxnSpPr>
            <p:nvPr/>
          </p:nvCxnSpPr>
          <p:spPr>
            <a:xfrm>
              <a:off x="9448196" y="4118852"/>
              <a:ext cx="1270723" cy="25891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Elbow Connector 34"/>
            <p:cNvCxnSpPr>
              <a:stCxn id="34" idx="2"/>
              <a:endCxn id="12" idx="3"/>
            </p:cNvCxnSpPr>
            <p:nvPr/>
          </p:nvCxnSpPr>
          <p:spPr>
            <a:xfrm rot="5400000" flipH="1">
              <a:off x="9411546" y="3508529"/>
              <a:ext cx="123975" cy="2490771"/>
            </a:xfrm>
            <a:prstGeom prst="bentConnector4">
              <a:avLst>
                <a:gd name="adj1" fmla="val -184392"/>
                <a:gd name="adj2" fmla="val 76256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7" name="Oval 76"/>
            <p:cNvSpPr/>
            <p:nvPr/>
          </p:nvSpPr>
          <p:spPr>
            <a:xfrm>
              <a:off x="9448196" y="3780061"/>
              <a:ext cx="243617" cy="243617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00" dirty="0" err="1"/>
                <a:t>Nf</a:t>
              </a:r>
              <a:endParaRPr lang="en-US" sz="1000" dirty="0"/>
            </a:p>
          </p:txBody>
        </p:sp>
        <p:sp>
          <p:nvSpPr>
            <p:cNvPr id="78" name="Oval 77"/>
            <p:cNvSpPr/>
            <p:nvPr/>
          </p:nvSpPr>
          <p:spPr>
            <a:xfrm>
              <a:off x="8336864" y="4766194"/>
              <a:ext cx="243617" cy="243617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00" dirty="0" err="1"/>
                <a:t>Sh</a:t>
              </a:r>
              <a:endParaRPr lang="en-US" sz="1000" dirty="0"/>
            </a:p>
          </p:txBody>
        </p:sp>
        <p:sp>
          <p:nvSpPr>
            <p:cNvPr id="79" name="Oval 78"/>
            <p:cNvSpPr/>
            <p:nvPr/>
          </p:nvSpPr>
          <p:spPr>
            <a:xfrm>
              <a:off x="8580481" y="5142251"/>
              <a:ext cx="243617" cy="243617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00" dirty="0"/>
                <a:t>in</a:t>
              </a:r>
            </a:p>
          </p:txBody>
        </p:sp>
        <p:sp>
          <p:nvSpPr>
            <p:cNvPr id="80" name="Oval 79"/>
            <p:cNvSpPr/>
            <p:nvPr/>
          </p:nvSpPr>
          <p:spPr>
            <a:xfrm>
              <a:off x="11725051" y="4888003"/>
              <a:ext cx="243617" cy="243617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00" dirty="0" err="1"/>
                <a:t>tp</a:t>
              </a:r>
              <a:endParaRPr lang="en-US" sz="1000" dirty="0"/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FE6A49B6-7273-697F-6D41-124A48346B60}"/>
                </a:ext>
              </a:extLst>
            </p:cNvPr>
            <p:cNvSpPr txBox="1"/>
            <p:nvPr/>
          </p:nvSpPr>
          <p:spPr>
            <a:xfrm>
              <a:off x="5609519" y="5601911"/>
              <a:ext cx="28703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Fourier’s Law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B9F4DB91-35EB-50E3-6FB4-D7C9CE1D52C1}"/>
                    </a:ext>
                  </a:extLst>
                </p:cNvPr>
                <p:cNvSpPr txBox="1"/>
                <p:nvPr/>
              </p:nvSpPr>
              <p:spPr>
                <a:xfrm>
                  <a:off x="7617534" y="5658551"/>
                  <a:ext cx="874034" cy="246221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>
                  <a:solidFill>
                    <a:schemeClr val="accent6">
                      <a:lumMod val="50000"/>
                    </a:schemeClr>
                  </a:solidFill>
                </a:ln>
                <a:effectLst>
                  <a:outerShdw blurRad="50800" dist="50800" dir="5400000" algn="ctr" rotWithShape="0">
                    <a:schemeClr val="tx1"/>
                  </a:outerShdw>
                </a:effectLst>
              </p:spPr>
              <p:txBody>
                <a:bodyPr wrap="square" lIns="45720" rIns="4572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=−</m:t>
                        </m:r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000" b="0" i="0" smtClean="0">
                            <a:latin typeface="Cambria Math" panose="02040503050406030204" pitchFamily="18" charset="0"/>
                          </a:rPr>
                          <m:t>∇</m:t>
                        </m:r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B9F4DB91-35EB-50E3-6FB4-D7C9CE1D52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7534" y="5658551"/>
                  <a:ext cx="874034" cy="246221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  <a:ln>
                  <a:solidFill>
                    <a:schemeClr val="accent6">
                      <a:lumMod val="50000"/>
                    </a:schemeClr>
                  </a:solidFill>
                </a:ln>
                <a:effectLst>
                  <a:outerShdw blurRad="50800" dist="50800" dir="5400000" algn="ctr" rotWithShape="0">
                    <a:schemeClr val="tx1"/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D5EE319E-E746-3601-BA9F-7005BF65E66B}"/>
                </a:ext>
              </a:extLst>
            </p:cNvPr>
            <p:cNvSpPr/>
            <p:nvPr/>
          </p:nvSpPr>
          <p:spPr>
            <a:xfrm>
              <a:off x="8580481" y="5669182"/>
              <a:ext cx="243617" cy="243617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00" dirty="0"/>
                <a:t>Fl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0B8D699-68B1-CEEB-3593-9B1B390415FA}"/>
                </a:ext>
              </a:extLst>
            </p:cNvPr>
            <p:cNvSpPr txBox="1"/>
            <p:nvPr/>
          </p:nvSpPr>
          <p:spPr>
            <a:xfrm>
              <a:off x="9708644" y="5041941"/>
              <a:ext cx="2103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Thermodynamic Pressure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4040081-926B-2C9E-9EFC-CE403665E7EE}"/>
              </a:ext>
            </a:extLst>
          </p:cNvPr>
          <p:cNvGrpSpPr/>
          <p:nvPr/>
        </p:nvGrpSpPr>
        <p:grpSpPr>
          <a:xfrm>
            <a:off x="545051" y="869986"/>
            <a:ext cx="11423617" cy="2745967"/>
            <a:chOff x="545051" y="869986"/>
            <a:chExt cx="11423617" cy="2745967"/>
          </a:xfrm>
        </p:grpSpPr>
        <p:grpSp>
          <p:nvGrpSpPr>
            <p:cNvPr id="29" name="Group 28"/>
            <p:cNvGrpSpPr/>
            <p:nvPr/>
          </p:nvGrpSpPr>
          <p:grpSpPr>
            <a:xfrm>
              <a:off x="545051" y="869986"/>
              <a:ext cx="11341638" cy="2745967"/>
              <a:chOff x="311371" y="920786"/>
              <a:chExt cx="11341638" cy="274596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TextBox 3"/>
                  <p:cNvSpPr txBox="1"/>
                  <p:nvPr/>
                </p:nvSpPr>
                <p:spPr>
                  <a:xfrm>
                    <a:off x="311371" y="1404483"/>
                    <a:ext cx="1023934" cy="380425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>
                    <a:solidFill>
                      <a:schemeClr val="accent6">
                        <a:lumMod val="50000"/>
                      </a:schemeClr>
                    </a:solidFill>
                  </a:ln>
                  <a:effectLst>
                    <a:outerShdw blurRad="50800" dist="50800" dir="5400000" algn="ctr" rotWithShape="0">
                      <a:schemeClr val="tx1"/>
                    </a:outerShdw>
                  </a:effectLst>
                </p:spPr>
                <p:txBody>
                  <a:bodyPr wrap="square" lIns="45720" rIns="4572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num>
                            <m:den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𝐷𝑡</m:t>
                              </m:r>
                            </m:den>
                          </m:f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acc>
                            <m:accPr>
                              <m:chr m:val="⃗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00" b="0" i="0" smtClean="0">
                                  <a:latin typeface="Cambria Math" panose="02040503050406030204" pitchFamily="18" charset="0"/>
                                </a:rPr>
                                <m:t>𝛻</m:t>
                              </m:r>
                            </m:e>
                          </m:acc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acc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oMath>
                      </m:oMathPara>
                    </a14:m>
                    <a:endParaRPr lang="en-US" sz="1000" dirty="0"/>
                  </a:p>
                </p:txBody>
              </p:sp>
            </mc:Choice>
            <mc:Fallback xmlns="">
              <p:sp>
                <p:nvSpPr>
                  <p:cNvPr id="4" name="TextBox 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1371" y="1404483"/>
                    <a:ext cx="1023934" cy="38042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>
                    <a:solidFill>
                      <a:schemeClr val="accent6">
                        <a:lumMod val="50000"/>
                      </a:schemeClr>
                    </a:solidFill>
                  </a:ln>
                  <a:effectLst>
                    <a:outerShdw blurRad="50800" dist="50800" dir="5400000" algn="ctr" rotWithShape="0">
                      <a:schemeClr val="tx1"/>
                    </a:outerShdw>
                  </a:effectLst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/>
                  <p:cNvSpPr txBox="1"/>
                  <p:nvPr/>
                </p:nvSpPr>
                <p:spPr>
                  <a:xfrm>
                    <a:off x="2411190" y="1384574"/>
                    <a:ext cx="1391385" cy="420243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>
                    <a:solidFill>
                      <a:schemeClr val="accent6">
                        <a:lumMod val="50000"/>
                      </a:schemeClr>
                    </a:solidFill>
                  </a:ln>
                  <a:effectLst>
                    <a:outerShdw blurRad="50800" dist="50800" dir="5400000" algn="ctr" rotWithShape="0">
                      <a:schemeClr val="tx1"/>
                    </a:outerShdw>
                  </a:effectLst>
                </p:spPr>
                <p:txBody>
                  <a:bodyPr wrap="square" lIns="45720" rIns="4572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f>
                            <m:f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</m:acc>
                            </m:num>
                            <m:den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𝐷𝑡</m:t>
                              </m:r>
                            </m:den>
                          </m:f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acc>
                            <m:accPr>
                              <m:chr m:val="⃗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00" b="0" i="0" smtClean="0">
                                  <a:latin typeface="Cambria Math" panose="02040503050406030204" pitchFamily="18" charset="0"/>
                                </a:rPr>
                                <m:t>𝛻</m:t>
                              </m:r>
                            </m:e>
                          </m:acc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⃡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acc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sSub>
                            <m:sSub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𝑏𝑜𝑑𝑦</m:t>
                              </m:r>
                            </m:sub>
                          </m:sSub>
                        </m:oMath>
                      </m:oMathPara>
                    </a14:m>
                    <a:endParaRPr lang="en-US" sz="1000" dirty="0"/>
                  </a:p>
                </p:txBody>
              </p:sp>
            </mc:Choice>
            <mc:Fallback xmlns="">
              <p:sp>
                <p:nvSpPr>
                  <p:cNvPr id="8" name="TextBox 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11190" y="1384574"/>
                    <a:ext cx="1391385" cy="420243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/>
                    </a:stretch>
                  </a:blipFill>
                  <a:ln>
                    <a:solidFill>
                      <a:schemeClr val="accent6">
                        <a:lumMod val="50000"/>
                      </a:schemeClr>
                    </a:solidFill>
                  </a:ln>
                  <a:effectLst>
                    <a:outerShdw blurRad="50800" dist="50800" dir="5400000" algn="ctr" rotWithShape="0">
                      <a:schemeClr val="tx1"/>
                    </a:outerShdw>
                  </a:effectLst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/>
                  <p:cNvSpPr txBox="1"/>
                  <p:nvPr/>
                </p:nvSpPr>
                <p:spPr>
                  <a:xfrm>
                    <a:off x="6168022" y="1374090"/>
                    <a:ext cx="2894187" cy="441211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>
                    <a:solidFill>
                      <a:schemeClr val="accent6">
                        <a:lumMod val="50000"/>
                      </a:schemeClr>
                    </a:solidFill>
                  </a:ln>
                  <a:effectLst>
                    <a:outerShdw blurRad="50800" dist="50800" dir="5400000" algn="ctr" rotWithShape="0">
                      <a:schemeClr val="tx1"/>
                    </a:outerShdw>
                  </a:effectLst>
                </p:spPr>
                <p:txBody>
                  <a:bodyPr wrap="square" lIns="45720" rIns="4572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f>
                            <m:f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num>
                            <m:den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𝐷𝑡</m:t>
                              </m:r>
                            </m:den>
                          </m:f>
                          <m:d>
                            <m:d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p>
                                      <m: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d>
                            <m:d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𝑏𝑜𝑑𝑦</m:t>
                                  </m:r>
                                </m:sub>
                              </m:s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</m:acc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̇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</m:e>
                          </m:d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00" b="0" i="0" smtClean="0">
                                  <a:latin typeface="Cambria Math" panose="02040503050406030204" pitchFamily="18" charset="0"/>
                                </a:rPr>
                                <m:t>𝛻</m:t>
                              </m:r>
                            </m:e>
                          </m:acc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⃡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</m:acc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</m:acc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oMath>
                      </m:oMathPara>
                    </a14:m>
                    <a:endParaRPr lang="en-US" sz="1000" dirty="0"/>
                  </a:p>
                </p:txBody>
              </p:sp>
            </mc:Choice>
            <mc:Fallback xmlns="">
              <p:sp>
                <p:nvSpPr>
                  <p:cNvPr id="15" name="TextBox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68022" y="1374090"/>
                    <a:ext cx="2894187" cy="441211"/>
                  </a:xfrm>
                  <a:prstGeom prst="rect">
                    <a:avLst/>
                  </a:prstGeom>
                  <a:blipFill>
                    <a:blip r:embed="rId32"/>
                    <a:stretch>
                      <a:fillRect/>
                    </a:stretch>
                  </a:blipFill>
                  <a:ln>
                    <a:solidFill>
                      <a:schemeClr val="accent6">
                        <a:lumMod val="50000"/>
                      </a:schemeClr>
                    </a:solidFill>
                  </a:ln>
                  <a:effectLst>
                    <a:outerShdw blurRad="50800" dist="50800" dir="5400000" algn="ctr" rotWithShape="0">
                      <a:schemeClr val="tx1"/>
                    </a:outerShdw>
                  </a:effectLst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/>
                  <p:cNvSpPr txBox="1"/>
                  <p:nvPr/>
                </p:nvSpPr>
                <p:spPr>
                  <a:xfrm>
                    <a:off x="311371" y="1993121"/>
                    <a:ext cx="1023933" cy="419795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>
                    <a:solidFill>
                      <a:schemeClr val="accent6">
                        <a:lumMod val="50000"/>
                      </a:schemeClr>
                    </a:solidFill>
                  </a:ln>
                  <a:effectLst>
                    <a:outerShdw blurRad="50800" dist="50800" dir="5400000" algn="ctr" rotWithShape="0">
                      <a:schemeClr val="tx1"/>
                    </a:outerShdw>
                  </a:effectLst>
                </p:spPr>
                <p:txBody>
                  <a:bodyPr wrap="square" lIns="45720" rIns="4572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num>
                            <m:den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  <m:nary>
                            <m:naryPr>
                              <m:chr m:val="∰"/>
                              <m:supHide m:val="on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𝒱</m:t>
                              </m:r>
                            </m:sub>
                            <m:sup/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𝒱</m:t>
                              </m:r>
                            </m:e>
                          </m:nary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oMath>
                      </m:oMathPara>
                    </a14:m>
                    <a:endParaRPr lang="en-US" sz="1000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1371" y="1993121"/>
                    <a:ext cx="1023933" cy="41979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>
                    <a:solidFill>
                      <a:schemeClr val="accent6">
                        <a:lumMod val="50000"/>
                      </a:schemeClr>
                    </a:solidFill>
                  </a:ln>
                  <a:effectLst>
                    <a:outerShdw blurRad="50800" dist="50800" dir="5400000" algn="ctr" rotWithShape="0">
                      <a:schemeClr val="tx1"/>
                    </a:outerShdw>
                  </a:effectLst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/>
                  <p:cNvSpPr txBox="1"/>
                  <p:nvPr/>
                </p:nvSpPr>
                <p:spPr>
                  <a:xfrm>
                    <a:off x="2411190" y="1993121"/>
                    <a:ext cx="2566642" cy="430118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>
                    <a:solidFill>
                      <a:schemeClr val="accent6">
                        <a:lumMod val="50000"/>
                      </a:schemeClr>
                    </a:solidFill>
                  </a:ln>
                  <a:effectLst>
                    <a:outerShdw blurRad="50800" dist="50800" dir="5400000" algn="ctr" rotWithShape="0">
                      <a:schemeClr val="tx1"/>
                    </a:outerShdw>
                  </a:effectLst>
                </p:spPr>
                <p:txBody>
                  <a:bodyPr wrap="square" lIns="45720" rIns="4572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num>
                            <m:den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  <m:nary>
                            <m:naryPr>
                              <m:chr m:val="∰"/>
                              <m:supHide m:val="on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𝒱</m:t>
                              </m:r>
                            </m:sub>
                            <m:sup/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</m:acc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𝒱</m:t>
                              </m:r>
                            </m:e>
                          </m:nary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∰"/>
                              <m:supHide m:val="on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𝒱</m:t>
                              </m:r>
                            </m:sub>
                            <m:sup/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sSub>
                                <m:sSub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𝑏𝑜𝑑𝑦</m:t>
                                  </m:r>
                                </m:sub>
                              </m:s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𝒱</m:t>
                              </m:r>
                            </m:e>
                          </m:nary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∯"/>
                              <m:supHide m:val="on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𝒮</m:t>
                              </m:r>
                            </m:sub>
                            <m:sup/>
                            <m:e>
                              <m:acc>
                                <m:accPr>
                                  <m:chr m:val="⃡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</m:acc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acc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𝒮</m:t>
                              </m:r>
                            </m:e>
                          </m:nary>
                        </m:oMath>
                      </m:oMathPara>
                    </a14:m>
                    <a:endParaRPr lang="en-US" sz="1000" dirty="0"/>
                  </a:p>
                </p:txBody>
              </p:sp>
            </mc:Choice>
            <mc:Fallback xmlns="">
              <p:sp>
                <p:nvSpPr>
                  <p:cNvPr id="9" name="TextBox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11190" y="1993121"/>
                    <a:ext cx="2566642" cy="430118"/>
                  </a:xfrm>
                  <a:prstGeom prst="rect">
                    <a:avLst/>
                  </a:prstGeom>
                  <a:blipFill>
                    <a:blip r:embed="rId33"/>
                    <a:stretch>
                      <a:fillRect/>
                    </a:stretch>
                  </a:blipFill>
                  <a:ln>
                    <a:solidFill>
                      <a:schemeClr val="accent6">
                        <a:lumMod val="50000"/>
                      </a:schemeClr>
                    </a:solidFill>
                  </a:ln>
                  <a:effectLst>
                    <a:outerShdw blurRad="50800" dist="50800" dir="5400000" algn="ctr" rotWithShape="0">
                      <a:schemeClr val="tx1"/>
                    </a:outerShdw>
                  </a:effectLst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Box 15"/>
                  <p:cNvSpPr txBox="1"/>
                  <p:nvPr/>
                </p:nvSpPr>
                <p:spPr>
                  <a:xfrm>
                    <a:off x="6168022" y="1993121"/>
                    <a:ext cx="4053463" cy="441211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>
                    <a:solidFill>
                      <a:schemeClr val="accent6">
                        <a:lumMod val="50000"/>
                      </a:schemeClr>
                    </a:solidFill>
                  </a:ln>
                  <a:effectLst>
                    <a:outerShdw blurRad="50800" dist="50800" dir="5400000" algn="ctr" rotWithShape="0">
                      <a:schemeClr val="tx1"/>
                    </a:outerShdw>
                  </a:effectLst>
                </p:spPr>
                <p:txBody>
                  <a:bodyPr wrap="square" lIns="45720" rIns="4572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num>
                            <m:den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  <m:nary>
                            <m:naryPr>
                              <m:chr m:val="∰"/>
                              <m:supHide m:val="on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𝒱</m:t>
                              </m:r>
                            </m:sub>
                            <m:sup/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d>
                                <m:d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US" sz="1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000" b="0" i="1" smtClean="0">
                                              <a:latin typeface="Cambria Math" panose="02040503050406030204" pitchFamily="18" charset="0"/>
                                            </a:rPr>
                                            <m:t>𝑉</m:t>
                                          </m:r>
                                        </m:e>
                                        <m:sup>
                                          <m:r>
                                            <a:rPr lang="en-US" sz="10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𝒱</m:t>
                              </m:r>
                            </m:e>
                          </m:nary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∰"/>
                              <m:supHide m:val="on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𝒱</m:t>
                              </m:r>
                            </m:sub>
                            <m:sup/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sSub>
                                <m:sSub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𝑏𝑜𝑑𝑦</m:t>
                                  </m:r>
                                </m:sub>
                              </m:s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</m:acc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̇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𝒱</m:t>
                              </m:r>
                            </m:e>
                          </m:nary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∯"/>
                              <m:supHide m:val="on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𝒮</m:t>
                              </m:r>
                            </m:sub>
                            <m:sup/>
                            <m:e>
                              <m:d>
                                <m:d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⃡"/>
                                      <m:ctrlP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000" i="1">
                                          <a:latin typeface="Cambria Math" panose="02040503050406030204" pitchFamily="18" charset="0"/>
                                        </a:rPr>
                                        <m:t>𝜏</m:t>
                                      </m:r>
                                    </m:e>
                                  </m:acc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</m:acc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</m:acc>
                                </m:e>
                              </m:d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acc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𝒮</m:t>
                              </m:r>
                            </m:e>
                          </m:nary>
                        </m:oMath>
                      </m:oMathPara>
                    </a14:m>
                    <a:endParaRPr lang="en-US" sz="1000" dirty="0"/>
                  </a:p>
                </p:txBody>
              </p:sp>
            </mc:Choice>
            <mc:Fallback xmlns="">
              <p:sp>
                <p:nvSpPr>
                  <p:cNvPr id="16" name="TextBox 1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68022" y="1993121"/>
                    <a:ext cx="4053463" cy="441211"/>
                  </a:xfrm>
                  <a:prstGeom prst="rect">
                    <a:avLst/>
                  </a:prstGeom>
                  <a:blipFill>
                    <a:blip r:embed="rId34"/>
                    <a:stretch>
                      <a:fillRect/>
                    </a:stretch>
                  </a:blipFill>
                  <a:ln>
                    <a:solidFill>
                      <a:schemeClr val="accent6">
                        <a:lumMod val="50000"/>
                      </a:schemeClr>
                    </a:solidFill>
                  </a:ln>
                  <a:effectLst>
                    <a:outerShdw blurRad="50800" dist="50800" dir="5400000" algn="ctr" rotWithShape="0">
                      <a:schemeClr val="tx1"/>
                    </a:outerShdw>
                  </a:effectLst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TextBox 4"/>
                  <p:cNvSpPr txBox="1"/>
                  <p:nvPr/>
                </p:nvSpPr>
                <p:spPr>
                  <a:xfrm>
                    <a:off x="311371" y="2629818"/>
                    <a:ext cx="1145854" cy="384977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  <a:ln>
                    <a:solidFill>
                      <a:schemeClr val="accent6">
                        <a:lumMod val="50000"/>
                      </a:schemeClr>
                    </a:solidFill>
                  </a:ln>
                  <a:effectLst>
                    <a:outerShdw blurRad="50800" dist="50800" dir="5400000" algn="ctr" rotWithShape="0">
                      <a:schemeClr val="tx1"/>
                    </a:outerShdw>
                  </a:effectLst>
                </p:spPr>
                <p:txBody>
                  <a:bodyPr wrap="square" lIns="45720" rIns="4572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𝜕𝜌</m:t>
                              </m:r>
                            </m:num>
                            <m:den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00" b="0" i="0" smtClean="0">
                                  <a:latin typeface="Cambria Math" panose="02040503050406030204" pitchFamily="18" charset="0"/>
                                </a:rPr>
                                <m:t>𝛻</m:t>
                              </m:r>
                            </m:e>
                          </m:acc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</m:acc>
                            </m:e>
                          </m:d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oMath>
                      </m:oMathPara>
                    </a14:m>
                    <a:endParaRPr lang="en-US" sz="1000" dirty="0"/>
                  </a:p>
                </p:txBody>
              </p:sp>
            </mc:Choice>
            <mc:Fallback xmlns="">
              <p:sp>
                <p:nvSpPr>
                  <p:cNvPr id="5" name="TextBox 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1371" y="2629818"/>
                    <a:ext cx="1145854" cy="38497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>
                    <a:solidFill>
                      <a:schemeClr val="accent6">
                        <a:lumMod val="50000"/>
                      </a:schemeClr>
                    </a:solidFill>
                  </a:ln>
                  <a:effectLst>
                    <a:outerShdw blurRad="50800" dist="50800" dir="5400000" algn="ctr" rotWithShape="0">
                      <a:schemeClr val="tx1"/>
                    </a:outerShdw>
                  </a:effectLst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/>
                  <p:cNvSpPr txBox="1"/>
                  <p:nvPr/>
                </p:nvSpPr>
                <p:spPr>
                  <a:xfrm>
                    <a:off x="2411190" y="2612152"/>
                    <a:ext cx="2002762" cy="420308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  <a:ln>
                    <a:solidFill>
                      <a:schemeClr val="accent6">
                        <a:lumMod val="50000"/>
                      </a:schemeClr>
                    </a:solidFill>
                  </a:ln>
                  <a:effectLst>
                    <a:outerShdw blurRad="50800" dist="50800" dir="5400000" algn="ctr" rotWithShape="0">
                      <a:schemeClr val="tx1"/>
                    </a:outerShdw>
                  </a:effectLst>
                </p:spPr>
                <p:txBody>
                  <a:bodyPr wrap="square" lIns="45720" rIns="4572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𝜕𝜌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</m:acc>
                            </m:num>
                            <m:den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00" b="0" i="0" smtClean="0">
                                  <a:latin typeface="Cambria Math" panose="02040503050406030204" pitchFamily="18" charset="0"/>
                                </a:rPr>
                                <m:t>𝛻</m:t>
                              </m:r>
                            </m:e>
                          </m:acc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</m:acc>
                              <m:acc>
                                <m:accPr>
                                  <m:chr m:val="⃗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</m:acc>
                            </m:e>
                          </m:d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acc>
                            <m:accPr>
                              <m:chr m:val="⃗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00" b="0" i="0" smtClean="0">
                                  <a:latin typeface="Cambria Math" panose="02040503050406030204" pitchFamily="18" charset="0"/>
                                </a:rPr>
                                <m:t>𝛻</m:t>
                              </m:r>
                            </m:e>
                          </m:acc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⃡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00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acc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sSub>
                            <m:sSub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𝑏𝑜𝑑𝑦</m:t>
                              </m:r>
                            </m:sub>
                          </m:sSub>
                        </m:oMath>
                      </m:oMathPara>
                    </a14:m>
                    <a:endParaRPr lang="en-US" sz="1000" dirty="0"/>
                  </a:p>
                </p:txBody>
              </p:sp>
            </mc:Choice>
            <mc:Fallback xmlns="">
              <p:sp>
                <p:nvSpPr>
                  <p:cNvPr id="13" name="TextBox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11190" y="2612152"/>
                    <a:ext cx="2002762" cy="420308"/>
                  </a:xfrm>
                  <a:prstGeom prst="rect">
                    <a:avLst/>
                  </a:prstGeom>
                  <a:blipFill>
                    <a:blip r:embed="rId35"/>
                    <a:stretch>
                      <a:fillRect/>
                    </a:stretch>
                  </a:blipFill>
                  <a:ln>
                    <a:solidFill>
                      <a:schemeClr val="accent6">
                        <a:lumMod val="50000"/>
                      </a:schemeClr>
                    </a:solidFill>
                  </a:ln>
                  <a:effectLst>
                    <a:outerShdw blurRad="50800" dist="50800" dir="5400000" algn="ctr" rotWithShape="0">
                      <a:schemeClr val="tx1"/>
                    </a:outerShdw>
                  </a:effectLst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/>
                  <p:cNvSpPr txBox="1"/>
                  <p:nvPr/>
                </p:nvSpPr>
                <p:spPr>
                  <a:xfrm>
                    <a:off x="6168022" y="2612152"/>
                    <a:ext cx="4260707" cy="441211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  <a:ln>
                    <a:solidFill>
                      <a:schemeClr val="accent6">
                        <a:lumMod val="50000"/>
                      </a:schemeClr>
                    </a:solidFill>
                  </a:ln>
                  <a:effectLst>
                    <a:outerShdw blurRad="50800" dist="50800" dir="5400000" algn="ctr" rotWithShape="0">
                      <a:schemeClr val="tx1"/>
                    </a:outerShdw>
                  </a:effectLst>
                </p:spPr>
                <p:txBody>
                  <a:bodyPr wrap="square" lIns="45720" rIns="4572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num>
                            <m:den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  <m:d>
                            <m:dPr>
                              <m:begChr m:val="["/>
                              <m:endChr m:val="]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d>
                                <m:d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US" sz="1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000" b="0" i="1" smtClean="0">
                                              <a:latin typeface="Cambria Math" panose="02040503050406030204" pitchFamily="18" charset="0"/>
                                            </a:rPr>
                                            <m:t>𝑉</m:t>
                                          </m:r>
                                        </m:e>
                                        <m:sup>
                                          <m:r>
                                            <a:rPr lang="en-US" sz="10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</m:e>
                          </m:d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00" b="0" i="0" smtClean="0">
                                  <a:latin typeface="Cambria Math" panose="02040503050406030204" pitchFamily="18" charset="0"/>
                                </a:rPr>
                                <m:t>𝛻</m:t>
                              </m:r>
                            </m:e>
                          </m:acc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d>
                                <m:d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US" sz="1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000" b="0" i="1" smtClean="0">
                                              <a:latin typeface="Cambria Math" panose="02040503050406030204" pitchFamily="18" charset="0"/>
                                            </a:rPr>
                                            <m:t>𝑉</m:t>
                                          </m:r>
                                        </m:e>
                                        <m:sup>
                                          <m:r>
                                            <a:rPr lang="en-US" sz="10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  <m:acc>
                                <m:accPr>
                                  <m:chr m:val="⃗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</m:acc>
                            </m:e>
                          </m:d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d>
                            <m:d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𝑏𝑜𝑑𝑦</m:t>
                                  </m:r>
                                </m:sub>
                              </m:s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</m:acc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̇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</m:e>
                          </m:d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00" b="0" i="0" smtClean="0">
                                  <a:latin typeface="Cambria Math" panose="02040503050406030204" pitchFamily="18" charset="0"/>
                                </a:rPr>
                                <m:t>𝛻</m:t>
                              </m:r>
                            </m:e>
                          </m:acc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⃡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</m:acc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</m:acc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oMath>
                      </m:oMathPara>
                    </a14:m>
                    <a:endParaRPr lang="en-US" sz="1000" dirty="0"/>
                  </a:p>
                </p:txBody>
              </p:sp>
            </mc:Choice>
            <mc:Fallback xmlns="">
              <p:sp>
                <p:nvSpPr>
                  <p:cNvPr id="19" name="TextBox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68022" y="2612152"/>
                    <a:ext cx="4260707" cy="441211"/>
                  </a:xfrm>
                  <a:prstGeom prst="rect">
                    <a:avLst/>
                  </a:prstGeom>
                  <a:blipFill>
                    <a:blip r:embed="rId36"/>
                    <a:stretch>
                      <a:fillRect/>
                    </a:stretch>
                  </a:blipFill>
                  <a:ln>
                    <a:solidFill>
                      <a:schemeClr val="accent6">
                        <a:lumMod val="50000"/>
                      </a:schemeClr>
                    </a:solidFill>
                  </a:ln>
                  <a:effectLst>
                    <a:outerShdw blurRad="50800" dist="50800" dir="5400000" algn="ctr" rotWithShape="0">
                      <a:schemeClr val="tx1"/>
                    </a:outerShdw>
                  </a:effectLst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/>
                  <p:cNvSpPr txBox="1"/>
                  <p:nvPr/>
                </p:nvSpPr>
                <p:spPr>
                  <a:xfrm>
                    <a:off x="311371" y="3228363"/>
                    <a:ext cx="1747833" cy="420308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  <a:ln>
                    <a:solidFill>
                      <a:schemeClr val="accent6">
                        <a:lumMod val="50000"/>
                      </a:schemeClr>
                    </a:solidFill>
                  </a:ln>
                  <a:effectLst>
                    <a:outerShdw blurRad="50800" dist="50800" dir="5400000" algn="ctr" rotWithShape="0">
                      <a:schemeClr val="tx1"/>
                    </a:outerShdw>
                  </a:effectLst>
                </p:spPr>
                <p:txBody>
                  <a:bodyPr wrap="square" lIns="45720" rIns="4572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∰"/>
                              <m:supHide m:val="on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𝒱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𝜕𝜌</m:t>
                                  </m:r>
                                </m:num>
                                <m:den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𝒱</m:t>
                              </m:r>
                            </m:e>
                          </m:nary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∯"/>
                              <m:supHide m:val="on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𝒮</m:t>
                              </m:r>
                            </m:sub>
                            <m:sup/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</m:acc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acc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𝒮</m:t>
                              </m:r>
                            </m:e>
                          </m:nary>
                          <m:r>
                            <a:rPr lang="en-US" sz="1000" b="0" i="0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oMath>
                      </m:oMathPara>
                    </a14:m>
                    <a:endParaRPr lang="en-US" sz="1000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1371" y="3228363"/>
                    <a:ext cx="1747833" cy="420308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  <a:ln>
                    <a:solidFill>
                      <a:schemeClr val="accent6">
                        <a:lumMod val="50000"/>
                      </a:schemeClr>
                    </a:solidFill>
                  </a:ln>
                  <a:effectLst>
                    <a:outerShdw blurRad="50800" dist="50800" dir="5400000" algn="ctr" rotWithShape="0">
                      <a:schemeClr val="tx1"/>
                    </a:outerShdw>
                  </a:effectLst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/>
                  <p:cNvSpPr txBox="1"/>
                  <p:nvPr/>
                </p:nvSpPr>
                <p:spPr>
                  <a:xfrm>
                    <a:off x="2411190" y="3210281"/>
                    <a:ext cx="3427702" cy="456472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  <a:ln>
                    <a:solidFill>
                      <a:schemeClr val="accent6">
                        <a:lumMod val="50000"/>
                      </a:schemeClr>
                    </a:solidFill>
                  </a:ln>
                  <a:effectLst>
                    <a:outerShdw blurRad="50800" dist="50800" dir="5400000" algn="ctr" rotWithShape="0">
                      <a:schemeClr val="tx1"/>
                    </a:outerShdw>
                  </a:effectLst>
                </p:spPr>
                <p:txBody>
                  <a:bodyPr wrap="square" lIns="45720" rIns="4572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∰"/>
                              <m:supHide m:val="on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𝒱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d>
                                    <m:dPr>
                                      <m:ctrlP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  <m:acc>
                                        <m:accPr>
                                          <m:chr m:val="⃗"/>
                                          <m:ctrlPr>
                                            <a:rPr lang="en-US" sz="1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000" b="0" i="1" smtClean="0">
                                              <a:latin typeface="Cambria Math" panose="02040503050406030204" pitchFamily="18" charset="0"/>
                                            </a:rPr>
                                            <m:t>𝑉</m:t>
                                          </m:r>
                                        </m:e>
                                      </m:acc>
                                    </m:e>
                                  </m:d>
                                </m:num>
                                <m:den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den>
                              </m:f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𝒱</m:t>
                              </m:r>
                            </m:e>
                          </m:nary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∯"/>
                              <m:supHide m:val="on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𝒮</m:t>
                              </m:r>
                            </m:sub>
                            <m:sup/>
                            <m:e>
                              <m:d>
                                <m:d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</m:acc>
                                </m:e>
                              </m:d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</m:acc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acc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𝒮</m:t>
                              </m:r>
                            </m:e>
                          </m:nary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∰"/>
                              <m:supHide m:val="on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𝒱</m:t>
                              </m:r>
                            </m:sub>
                            <m:sup/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sSub>
                                <m:sSub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𝑏𝑜𝑑𝑦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∯"/>
                              <m:supHide m:val="on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𝒮</m:t>
                              </m:r>
                            </m:sub>
                            <m:sup/>
                            <m:e>
                              <m:acc>
                                <m:accPr>
                                  <m:chr m:val="⃡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</m:acc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acc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𝒮</m:t>
                              </m:r>
                            </m:e>
                          </m:nary>
                        </m:oMath>
                      </m:oMathPara>
                    </a14:m>
                    <a:endParaRPr lang="en-US" sz="1000" dirty="0"/>
                  </a:p>
                </p:txBody>
              </p:sp>
            </mc:Choice>
            <mc:Fallback xmlns="">
              <p:sp>
                <p:nvSpPr>
                  <p:cNvPr id="14" name="TextBox 1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11190" y="3210281"/>
                    <a:ext cx="3427702" cy="456472"/>
                  </a:xfrm>
                  <a:prstGeom prst="rect">
                    <a:avLst/>
                  </a:prstGeom>
                  <a:blipFill>
                    <a:blip r:embed="rId37"/>
                    <a:stretch>
                      <a:fillRect/>
                    </a:stretch>
                  </a:blipFill>
                  <a:ln>
                    <a:solidFill>
                      <a:schemeClr val="accent6">
                        <a:lumMod val="50000"/>
                      </a:schemeClr>
                    </a:solidFill>
                  </a:ln>
                  <a:effectLst>
                    <a:outerShdw blurRad="50800" dist="50800" dir="5400000" algn="ctr" rotWithShape="0">
                      <a:schemeClr val="tx1"/>
                    </a:outerShdw>
                  </a:effectLst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/>
                  <p:cNvSpPr txBox="1"/>
                  <p:nvPr/>
                </p:nvSpPr>
                <p:spPr>
                  <a:xfrm>
                    <a:off x="6168022" y="3217912"/>
                    <a:ext cx="5484987" cy="441211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  <a:ln>
                    <a:solidFill>
                      <a:schemeClr val="accent6">
                        <a:lumMod val="50000"/>
                      </a:schemeClr>
                    </a:solidFill>
                  </a:ln>
                  <a:effectLst>
                    <a:outerShdw blurRad="50800" dist="50800" dir="5400000" algn="ctr" rotWithShape="0">
                      <a:schemeClr val="tx1"/>
                    </a:outerShdw>
                  </a:effectLst>
                </p:spPr>
                <p:txBody>
                  <a:bodyPr wrap="square" lIns="45720" rIns="4572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∰"/>
                              <m:supHide m:val="on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𝒱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den>
                              </m:f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  <m:d>
                                    <m:dPr>
                                      <m:ctrlP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  <m: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sz="1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p>
                                            <m:sSupPr>
                                              <m:ctrlPr>
                                                <a:rPr lang="en-US" sz="10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sz="1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𝑉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sz="1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num>
                                        <m:den>
                                          <m:r>
                                            <a:rPr lang="en-US" sz="10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𝒱</m:t>
                              </m:r>
                            </m:e>
                          </m:nary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∯"/>
                              <m:supHide m:val="on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𝒮</m:t>
                              </m:r>
                            </m:sub>
                            <m:sup/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d>
                                <m:d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US" sz="1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000" b="0" i="1" smtClean="0">
                                              <a:latin typeface="Cambria Math" panose="02040503050406030204" pitchFamily="18" charset="0"/>
                                            </a:rPr>
                                            <m:t>𝑉</m:t>
                                          </m:r>
                                        </m:e>
                                        <m:sup>
                                          <m:r>
                                            <a:rPr lang="en-US" sz="10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  <m:acc>
                                <m:accPr>
                                  <m:chr m:val="⃗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</m:acc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acc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𝒮</m:t>
                              </m:r>
                            </m:e>
                          </m:nary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∰"/>
                              <m:supHide m:val="on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𝒱</m:t>
                              </m:r>
                            </m:sub>
                            <m:sup/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sSub>
                                <m:sSub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𝑏𝑜𝑑𝑦</m:t>
                                  </m:r>
                                </m:sub>
                              </m:s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</m:acc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̇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𝒱</m:t>
                              </m:r>
                            </m:e>
                          </m:nary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∯"/>
                              <m:supHide m:val="on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𝒮</m:t>
                              </m:r>
                            </m:sub>
                            <m:sup/>
                            <m:e>
                              <m:d>
                                <m:d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⃡"/>
                                      <m:ctrlP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000" i="1">
                                          <a:latin typeface="Cambria Math" panose="02040503050406030204" pitchFamily="18" charset="0"/>
                                        </a:rPr>
                                        <m:t>𝜏</m:t>
                                      </m:r>
                                    </m:e>
                                  </m:acc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</m:acc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000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</m:acc>
                                </m:e>
                              </m:d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acc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𝒮</m:t>
                              </m:r>
                            </m:e>
                          </m:nary>
                        </m:oMath>
                      </m:oMathPara>
                    </a14:m>
                    <a:endParaRPr lang="en-US" sz="1000" dirty="0"/>
                  </a:p>
                </p:txBody>
              </p:sp>
            </mc:Choice>
            <mc:Fallback xmlns="">
              <p:sp>
                <p:nvSpPr>
                  <p:cNvPr id="20" name="TextBox 1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68022" y="3217912"/>
                    <a:ext cx="5484987" cy="441211"/>
                  </a:xfrm>
                  <a:prstGeom prst="rect">
                    <a:avLst/>
                  </a:prstGeom>
                  <a:blipFill>
                    <a:blip r:embed="rId38"/>
                    <a:stretch>
                      <a:fillRect/>
                    </a:stretch>
                  </a:blipFill>
                  <a:ln>
                    <a:solidFill>
                      <a:schemeClr val="accent6">
                        <a:lumMod val="50000"/>
                      </a:schemeClr>
                    </a:solidFill>
                  </a:ln>
                  <a:effectLst>
                    <a:outerShdw blurRad="50800" dist="50800" dir="5400000" algn="ctr" rotWithShape="0">
                      <a:schemeClr val="tx1"/>
                    </a:outerShdw>
                  </a:effectLst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5" name="TextBox 24"/>
              <p:cNvSpPr txBox="1"/>
              <p:nvPr/>
            </p:nvSpPr>
            <p:spPr>
              <a:xfrm>
                <a:off x="311371" y="920786"/>
                <a:ext cx="208072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Continuity</a:t>
                </a:r>
              </a:p>
            </p:txBody>
          </p:sp>
          <p:sp>
            <p:nvSpPr>
              <p:cNvPr id="26" name="TextBox 25"/>
              <p:cNvSpPr txBox="1"/>
              <p:nvPr/>
            </p:nvSpPr>
            <p:spPr>
              <a:xfrm>
                <a:off x="2319750" y="925226"/>
                <a:ext cx="208072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Momentum</a:t>
                </a:r>
              </a:p>
            </p:txBody>
          </p:sp>
          <p:sp>
            <p:nvSpPr>
              <p:cNvPr id="28" name="TextBox 27"/>
              <p:cNvSpPr txBox="1"/>
              <p:nvPr/>
            </p:nvSpPr>
            <p:spPr>
              <a:xfrm>
                <a:off x="6168022" y="920786"/>
                <a:ext cx="208072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Total Energy</a:t>
                </a:r>
              </a:p>
            </p:txBody>
          </p:sp>
        </p:grpSp>
        <p:sp>
          <p:nvSpPr>
            <p:cNvPr id="69" name="Oval 68"/>
            <p:cNvSpPr/>
            <p:nvPr/>
          </p:nvSpPr>
          <p:spPr>
            <a:xfrm>
              <a:off x="10504830" y="2041117"/>
              <a:ext cx="243617" cy="243617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00" dirty="0"/>
                <a:t>Le</a:t>
              </a:r>
            </a:p>
          </p:txBody>
        </p:sp>
        <p:sp>
          <p:nvSpPr>
            <p:cNvPr id="70" name="Oval 69"/>
            <p:cNvSpPr/>
            <p:nvPr/>
          </p:nvSpPr>
          <p:spPr>
            <a:xfrm>
              <a:off x="11725050" y="3055754"/>
              <a:ext cx="243617" cy="243617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00" dirty="0" err="1"/>
                <a:t>Ee</a:t>
              </a:r>
              <a:endParaRPr lang="en-US" sz="1000" dirty="0"/>
            </a:p>
          </p:txBody>
        </p:sp>
        <p:sp>
          <p:nvSpPr>
            <p:cNvPr id="71" name="Oval 70"/>
            <p:cNvSpPr/>
            <p:nvPr/>
          </p:nvSpPr>
          <p:spPr>
            <a:xfrm>
              <a:off x="9336041" y="1436677"/>
              <a:ext cx="243617" cy="243617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00" dirty="0"/>
                <a:t>le</a:t>
              </a:r>
            </a:p>
          </p:txBody>
        </p:sp>
        <p:sp>
          <p:nvSpPr>
            <p:cNvPr id="72" name="Oval 71"/>
            <p:cNvSpPr/>
            <p:nvPr/>
          </p:nvSpPr>
          <p:spPr>
            <a:xfrm>
              <a:off x="10717187" y="2657676"/>
              <a:ext cx="243617" cy="243617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00" dirty="0" err="1"/>
                <a:t>ee</a:t>
              </a:r>
              <a:endParaRPr lang="en-US" sz="100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6242493-BE4C-3C1B-DBC3-65F976773E84}"/>
                </a:ext>
              </a:extLst>
            </p:cNvPr>
            <p:cNvSpPr txBox="1"/>
            <p:nvPr/>
          </p:nvSpPr>
          <p:spPr>
            <a:xfrm>
              <a:off x="10037827" y="926539"/>
              <a:ext cx="19308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Internal Energy</a:t>
              </a:r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77675248-1848-6EF8-FF87-21DA8071B168}"/>
                </a:ext>
              </a:extLst>
            </p:cNvPr>
            <p:cNvGrpSpPr/>
            <p:nvPr/>
          </p:nvGrpSpPr>
          <p:grpSpPr>
            <a:xfrm>
              <a:off x="10216706" y="1353682"/>
              <a:ext cx="1630153" cy="380425"/>
              <a:chOff x="7622523" y="6196113"/>
              <a:chExt cx="1630153" cy="38042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F027BB38-B36E-3E84-B2F8-FC68489BC4D9}"/>
                      </a:ext>
                    </a:extLst>
                  </p:cNvPr>
                  <p:cNvSpPr txBox="1"/>
                  <p:nvPr/>
                </p:nvSpPr>
                <p:spPr>
                  <a:xfrm>
                    <a:off x="7622523" y="6196113"/>
                    <a:ext cx="1292878" cy="380425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>
                    <a:solidFill>
                      <a:schemeClr val="accent6">
                        <a:lumMod val="50000"/>
                      </a:schemeClr>
                    </a:solidFill>
                  </a:ln>
                  <a:effectLst>
                    <a:outerShdw blurRad="50800" dist="50800" dir="5400000" algn="ctr" rotWithShape="0">
                      <a:schemeClr val="tx1"/>
                    </a:outerShdw>
                  </a:effectLst>
                </p:spPr>
                <p:txBody>
                  <a:bodyPr wrap="square" lIns="45720" rIns="4572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f>
                            <m:f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𝐷𝑒</m:t>
                              </m:r>
                            </m:num>
                            <m:den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𝐷𝑡</m:t>
                              </m:r>
                            </m:den>
                          </m:f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acc>
                            <m:accPr>
                              <m:chr m:val="̇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</m:acc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⃡"/>
                              <m:ctrlPr>
                                <a:rPr lang="en-US" sz="1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00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acc>
                          <m:r>
                            <a:rPr lang="en-US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∶</m:t>
                          </m:r>
                          <m:r>
                            <m:rPr>
                              <m:sty m:val="p"/>
                            </m:rPr>
                            <a:rPr lang="en-US" sz="1000" b="0" i="0" smtClean="0">
                              <a:latin typeface="Cambria Math" panose="02040503050406030204" pitchFamily="18" charset="0"/>
                            </a:rPr>
                            <m:t>∇</m:t>
                          </m:r>
                          <m:acc>
                            <m:accPr>
                              <m:chr m:val="⃗"/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acc>
                        </m:oMath>
                      </m:oMathPara>
                    </a14:m>
                    <a:endParaRPr lang="en-US" sz="10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F027BB38-B36E-3E84-B2F8-FC68489BC4D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2523" y="6196113"/>
                    <a:ext cx="1292878" cy="380425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/>
                    </a:stretch>
                  </a:blipFill>
                  <a:ln>
                    <a:solidFill>
                      <a:schemeClr val="accent6">
                        <a:lumMod val="50000"/>
                      </a:schemeClr>
                    </a:solidFill>
                  </a:ln>
                  <a:effectLst>
                    <a:outerShdw blurRad="50800" dist="50800" dir="5400000" algn="ctr" rotWithShape="0">
                      <a:schemeClr val="tx1"/>
                    </a:outerShdw>
                  </a:effectLst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C09044BE-2EA3-DBEF-8FA0-02DF17A3005F}"/>
                  </a:ext>
                </a:extLst>
              </p:cNvPr>
              <p:cNvSpPr/>
              <p:nvPr/>
            </p:nvSpPr>
            <p:spPr>
              <a:xfrm>
                <a:off x="9009059" y="6290804"/>
                <a:ext cx="243617" cy="243617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sz="1000" dirty="0"/>
                  <a:t>lie</a:t>
                </a:r>
              </a:p>
            </p:txBody>
          </p:sp>
        </p:grp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7B3F8DE0-656A-1739-F7A2-D3C8E84816A6}"/>
              </a:ext>
            </a:extLst>
          </p:cNvPr>
          <p:cNvSpPr txBox="1"/>
          <p:nvPr/>
        </p:nvSpPr>
        <p:spPr>
          <a:xfrm>
            <a:off x="2483356" y="3842215"/>
            <a:ext cx="3126163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/>
              <a:t>Movement from </a:t>
            </a:r>
            <a:r>
              <a:rPr lang="en-US" sz="1050" dirty="0" err="1"/>
              <a:t>Lagrangian</a:t>
            </a:r>
            <a:r>
              <a:rPr lang="en-US" sz="1050" dirty="0"/>
              <a:t> (particle) and Eulerian (flux) forms is done with the mnemonic:</a:t>
            </a:r>
          </a:p>
          <a:p>
            <a:endParaRPr lang="en-US" sz="1050" dirty="0"/>
          </a:p>
          <a:p>
            <a:pPr algn="ctr"/>
            <a:r>
              <a:rPr lang="en-US" sz="1050" i="1" dirty="0"/>
              <a:t>Flux = U con + Particle</a:t>
            </a:r>
          </a:p>
        </p:txBody>
      </p:sp>
    </p:spTree>
    <p:extLst>
      <p:ext uri="{BB962C8B-B14F-4D97-AF65-F5344CB8AC3E}">
        <p14:creationId xmlns:p14="http://schemas.microsoft.com/office/powerpoint/2010/main" val="25622052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BD1E2BB92CBC144967077C2021A537D" ma:contentTypeVersion="7" ma:contentTypeDescription="Create a new document." ma:contentTypeScope="" ma:versionID="13603f4343c62bea59de7b4e78fa22c3">
  <xsd:schema xmlns:xsd="http://www.w3.org/2001/XMLSchema" xmlns:xs="http://www.w3.org/2001/XMLSchema" xmlns:p="http://schemas.microsoft.com/office/2006/metadata/properties" xmlns:ns3="c852713b-0caa-4ac0-ba75-048f00e27b76" targetNamespace="http://schemas.microsoft.com/office/2006/metadata/properties" ma:root="true" ma:fieldsID="1ea06de7f52a3181bb88d059a53cee0e" ns3:_="">
    <xsd:import namespace="c852713b-0caa-4ac0-ba75-048f00e27b76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52713b-0caa-4ac0-ba75-048f00e27b7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BBD920D1-BFF1-4FCD-A4C4-BA088C4DCAC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6BE4778-09D1-4881-9FBE-4AA86546682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852713b-0caa-4ac0-ba75-048f00e27b7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7DAE9A5-048B-402C-BCE3-7BD115F2E3A2}">
  <ds:schemaRefs>
    <ds:schemaRef ds:uri="http://schemas.microsoft.com/office/2006/metadata/properties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c852713b-0caa-4ac0-ba75-048f00e27b76"/>
    <ds:schemaRef ds:uri="http://purl.org/dc/elements/1.1/"/>
    <ds:schemaRef ds:uri="http://www.w3.org/XML/1998/namespace"/>
    <ds:schemaRef ds:uri="http://schemas.microsoft.com/office/2006/documentManagement/typ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13178</TotalTime>
  <Words>389</Words>
  <Application>Microsoft Office PowerPoint</Application>
  <PresentationFormat>Widescreen</PresentationFormat>
  <Paragraphs>81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Cambria Math</vt:lpstr>
      <vt:lpstr>Office Theme</vt:lpstr>
      <vt:lpstr>PowerPoint Presentation</vt:lpstr>
    </vt:vector>
  </TitlesOfParts>
  <Company>HPES ACES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Schiff, Conrad (GSFC-5800)</dc:creator>
  <cp:lastModifiedBy>Conrad Schiff</cp:lastModifiedBy>
  <cp:revision>70</cp:revision>
  <cp:lastPrinted>2021-07-20T23:11:12Z</cp:lastPrinted>
  <dcterms:created xsi:type="dcterms:W3CDTF">2020-06-30T15:14:45Z</dcterms:created>
  <dcterms:modified xsi:type="dcterms:W3CDTF">2025-09-24T20:37:30Z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0x0101002BD1E2BB92CBC144967077C2021A537D</vt:lpwstr>
  </property>
</Properties>
</file>