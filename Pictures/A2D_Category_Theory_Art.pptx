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1" autoAdjust="0"/>
    <p:restoredTop sz="94660"/>
  </p:normalViewPr>
  <p:slideViewPr>
    <p:cSldViewPr snapToGrid="0">
      <p:cViewPr>
        <p:scale>
          <a:sx n="66" d="100"/>
          <a:sy n="66" d="100"/>
        </p:scale>
        <p:origin x="5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AD5E-B53E-4758-980E-5BA53D8AD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52E2E-E3E6-46C4-9DE3-08E7A4CD8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DFD3-1E98-4515-9555-F0F734026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EE3CD-A79E-4F1B-879C-C1F4144A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9B869-78A7-4DAD-A82E-E06BA53F2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4BD24-C63C-442C-ABDF-66217B55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E3ED-6A6F-420D-A831-718756BEB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0BAB-D137-436A-97A7-DA187ED1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6ABD-4BEB-4A15-8B7C-6F93A74E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28CA-0475-43A6-A0F6-5F1D0584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4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DB0E-4870-4574-AC8D-1B624DA9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AEC85-10E8-4888-AEB3-6AC3A0797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4A22C-A209-4108-964A-0E7DB8C7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31704-3D59-4F1F-A2A4-6C67AADD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D122D-0D72-4F2F-93E2-37F90372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0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E2A3-0776-4FB7-A1AC-BC009317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FD84E-5506-4992-B971-0E810F09D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0DB-78B8-4014-9D33-957CA043F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22215-7EA9-47DF-818B-63E7E50B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88A23-435E-4A22-A8BE-7666497B6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98F29-FBFE-4420-B3F9-E78FBCA5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0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51EBF-FCA8-4D12-8C37-14372939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73A64-7731-4AC1-BEA2-C6DBF0B6F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9F2EA-15DB-43FE-93B2-ED806823B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72E9D5-296F-4576-98CE-7DB0347E0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DAE7E-F596-4334-9247-A5AEF6D0A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DEA2B8-0FFD-4FD2-B44A-6652C641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5111E-90B8-42B8-B091-4BE00E495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16E7C-F157-4E0F-BCFB-B65275DF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1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EDE6-7749-4BBB-98A1-646E2F5A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56C56-5136-4458-B51B-D86EB4AB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72E70-DD65-46BE-8BFA-16D663A2B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D481A-6641-493E-8F46-7F2D3D51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5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6D3140-A772-4DD1-9455-24E8D24CD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4CE12-5361-4681-A85E-57B31DA3E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15F0F-9971-4790-BC2A-C82B8621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89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6DC3-8637-4918-90F6-3D7995A5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5777-26FB-4183-90AF-88EAB915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2BC772-8F96-4A73-9AB5-0B225A892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1566E-6101-4663-9047-622A15E0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5270E-12A2-4D61-9D5F-DB637B8D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AA4EF-F408-4199-8813-D1D6CC66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57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21E2-A435-49F8-B378-C4103C2D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4E359-C197-46C7-97CB-74001B21F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ED0C4-17E0-404A-A09A-D74AD245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DA543-D24A-4A3C-8037-81F7E6092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05E77-5AFB-4988-BD54-A15401DA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65CA3-D23C-4BF4-A5F3-6BAEDE33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728F-6856-4C34-832E-3F82FEA1D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4B3BD-0F6B-426E-9A46-D88865981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906B6-63EB-4880-ACF7-33BD68FE6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93187-BFE0-463D-B230-7EA13B3C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D045-8120-4C47-806B-4240608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13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50A79-47ED-4F64-9E7B-A64021BE1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C43B6-11A0-4133-94D3-0AA04545A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EE422-C2CC-4BB0-B1AD-C65FD948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04BF0-D054-4443-83D1-B998785A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6F6CB-050B-4827-9017-0E156857A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5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526A7-FE19-42DA-B31F-9FF13D84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ED11-BE31-42B1-836A-0AFCDE772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C283C-DD00-4CD5-8AAD-FF717A17B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5C8DD-7EF7-449C-A245-A5E0D532403F}" type="datetimeFigureOut">
              <a:rPr lang="en-US" smtClean="0"/>
              <a:t>2/7/2021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D069D-E7B1-4668-A75C-75CC0D97F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22398-DB90-4A5C-9977-66C6F0461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56B0F9-47C0-44FF-A021-A3CB5EAE1A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1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578FB93-CCE0-48F9-9830-890AAB0E908D}"/>
              </a:ext>
            </a:extLst>
          </p:cNvPr>
          <p:cNvGrpSpPr/>
          <p:nvPr/>
        </p:nvGrpSpPr>
        <p:grpSpPr>
          <a:xfrm>
            <a:off x="3098816" y="324997"/>
            <a:ext cx="2745602" cy="6371799"/>
            <a:chOff x="4054219" y="104601"/>
            <a:chExt cx="2745602" cy="63717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31C95C0-FAC2-497A-80C0-04ADAE29FEF1}"/>
                    </a:ext>
                  </a:extLst>
                </p:cNvPr>
                <p:cNvSpPr txBox="1"/>
                <p:nvPr/>
              </p:nvSpPr>
              <p:spPr>
                <a:xfrm>
                  <a:off x="4055658" y="104601"/>
                  <a:ext cx="2743200" cy="175432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has a </a:t>
                  </a:r>
                  <a:r>
                    <a:rPr lang="en-US" i="1" dirty="0"/>
                    <a:t>section</a:t>
                  </a:r>
                  <a:r>
                    <a:rPr lang="en-US" dirty="0"/>
                    <a:t>: a map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r>
                    <a:rPr lang="en-US" dirty="0"/>
                    <a:t>Satisfying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931C95C0-FAC2-497A-80C0-04ADAE29F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5658" y="104601"/>
                  <a:ext cx="2743200" cy="1754326"/>
                </a:xfrm>
                <a:prstGeom prst="rect">
                  <a:avLst/>
                </a:prstGeom>
                <a:blipFill>
                  <a:blip r:embed="rId2"/>
                  <a:stretch>
                    <a:fillRect t="-1379" b="-413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0D01942-2F26-4AFC-94D3-82517612EC3E}"/>
                </a:ext>
              </a:extLst>
            </p:cNvPr>
            <p:cNvGrpSpPr/>
            <p:nvPr/>
          </p:nvGrpSpPr>
          <p:grpSpPr>
            <a:xfrm>
              <a:off x="4190945" y="456028"/>
              <a:ext cx="2497151" cy="1051471"/>
              <a:chOff x="1244104" y="1763389"/>
              <a:chExt cx="2497151" cy="1051471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9FE3A1E-600A-44A4-98E6-AA93078907BA}"/>
                  </a:ext>
                </a:extLst>
              </p:cNvPr>
              <p:cNvCxnSpPr/>
              <p:nvPr/>
            </p:nvCxnSpPr>
            <p:spPr>
              <a:xfrm>
                <a:off x="1603332" y="2455101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147E87C5-B20C-43CF-BA13-BE70F27A5B34}"/>
                  </a:ext>
                </a:extLst>
              </p:cNvPr>
              <p:cNvSpPr/>
              <p:nvPr/>
            </p:nvSpPr>
            <p:spPr>
              <a:xfrm>
                <a:off x="1441450" y="1810340"/>
                <a:ext cx="2127250" cy="920138"/>
              </a:xfrm>
              <a:prstGeom prst="arc">
                <a:avLst>
                  <a:gd name="adj1" fmla="val 10762795"/>
                  <a:gd name="adj2" fmla="val 24157"/>
                </a:avLst>
              </a:prstGeom>
              <a:ln w="12700">
                <a:solidFill>
                  <a:schemeClr val="tx1"/>
                </a:solidFill>
                <a:prstDash val="dash"/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08305FE-46DC-430F-8E15-7DD484360202}"/>
                      </a:ext>
                    </a:extLst>
                  </p:cNvPr>
                  <p:cNvSpPr txBox="1"/>
                  <p:nvPr/>
                </p:nvSpPr>
                <p:spPr>
                  <a:xfrm>
                    <a:off x="1244104" y="227040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08305FE-46DC-430F-8E15-7DD4843602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4104" y="2270409"/>
                    <a:ext cx="359228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89B6149-1579-45A6-8EC3-615FE65AB807}"/>
                      </a:ext>
                    </a:extLst>
                  </p:cNvPr>
                  <p:cNvSpPr txBox="1"/>
                  <p:nvPr/>
                </p:nvSpPr>
                <p:spPr>
                  <a:xfrm>
                    <a:off x="3382027" y="227040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089B6149-1579-45A6-8EC3-615FE65AB8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2027" y="2270409"/>
                    <a:ext cx="35922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CF07C01-60E3-4A86-B370-98A16FCA2B08}"/>
                      </a:ext>
                    </a:extLst>
                  </p:cNvPr>
                  <p:cNvSpPr txBox="1"/>
                  <p:nvPr/>
                </p:nvSpPr>
                <p:spPr>
                  <a:xfrm>
                    <a:off x="2325461" y="176338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9CF07C01-60E3-4A86-B370-98A16FCA2B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5461" y="1763389"/>
                    <a:ext cx="35922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EB61032-8312-4E91-A737-CAAC7D80F4FE}"/>
                      </a:ext>
                    </a:extLst>
                  </p:cNvPr>
                  <p:cNvSpPr txBox="1"/>
                  <p:nvPr/>
                </p:nvSpPr>
                <p:spPr>
                  <a:xfrm>
                    <a:off x="2325461" y="244552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4EB61032-8312-4E91-A737-CAAC7D80F4F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5461" y="2445528"/>
                    <a:ext cx="359228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854BE06-656A-482F-9AD3-C66EEB1BDF8E}"/>
                </a:ext>
              </a:extLst>
            </p:cNvPr>
            <p:cNvSpPr txBox="1"/>
            <p:nvPr/>
          </p:nvSpPr>
          <p:spPr>
            <a:xfrm>
              <a:off x="4054219" y="1859097"/>
              <a:ext cx="2743200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The choice problem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has a solution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E40C923D-E10A-4FDC-9A58-C222C57C2D62}"/>
                </a:ext>
              </a:extLst>
            </p:cNvPr>
            <p:cNvGrpSpPr/>
            <p:nvPr/>
          </p:nvGrpSpPr>
          <p:grpSpPr>
            <a:xfrm>
              <a:off x="4174628" y="2140756"/>
              <a:ext cx="2497151" cy="1370141"/>
              <a:chOff x="4048076" y="2144681"/>
              <a:chExt cx="2497151" cy="137014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897428D-DF61-4B98-B207-D049B12B7620}"/>
                  </a:ext>
                </a:extLst>
              </p:cNvPr>
              <p:cNvCxnSpPr/>
              <p:nvPr/>
            </p:nvCxnSpPr>
            <p:spPr>
              <a:xfrm>
                <a:off x="4407304" y="3155063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11EB4257-27A7-421C-8C9F-3F23D1B89699}"/>
                      </a:ext>
                    </a:extLst>
                  </p:cNvPr>
                  <p:cNvSpPr txBox="1"/>
                  <p:nvPr/>
                </p:nvSpPr>
                <p:spPr>
                  <a:xfrm>
                    <a:off x="4048076" y="297037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11EB4257-27A7-421C-8C9F-3F23D1B896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8076" y="2970371"/>
                    <a:ext cx="359228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2797419-1594-4CF5-BA55-614C790890B4}"/>
                      </a:ext>
                    </a:extLst>
                  </p:cNvPr>
                  <p:cNvSpPr txBox="1"/>
                  <p:nvPr/>
                </p:nvSpPr>
                <p:spPr>
                  <a:xfrm>
                    <a:off x="6185999" y="297037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62797419-1594-4CF5-BA55-614C790890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5999" y="2970371"/>
                    <a:ext cx="359228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E40A15A-965F-4207-9187-28DCC91FA242}"/>
                      </a:ext>
                    </a:extLst>
                  </p:cNvPr>
                  <p:cNvSpPr txBox="1"/>
                  <p:nvPr/>
                </p:nvSpPr>
                <p:spPr>
                  <a:xfrm>
                    <a:off x="5129433" y="214468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6E40A15A-965F-4207-9187-28DCC91FA2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9433" y="2144681"/>
                    <a:ext cx="35922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4178A2E-4DB7-432C-ADB7-06F451B2C846}"/>
                      </a:ext>
                    </a:extLst>
                  </p:cNvPr>
                  <p:cNvSpPr txBox="1"/>
                  <p:nvPr/>
                </p:nvSpPr>
                <p:spPr>
                  <a:xfrm>
                    <a:off x="5129433" y="3145490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34178A2E-4DB7-432C-ADB7-06F451B2C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9433" y="3145490"/>
                    <a:ext cx="359228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53066B0-75FA-4E1E-9300-01B7E65A1EEE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332" y="250582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53066B0-75FA-4E1E-9300-01B7E65A1E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6332" y="2505825"/>
                    <a:ext cx="359228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50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2BE9EDCF-797A-4534-B057-E61F20171471}"/>
                      </a:ext>
                    </a:extLst>
                  </p:cNvPr>
                  <p:cNvSpPr txBox="1"/>
                  <p:nvPr/>
                </p:nvSpPr>
                <p:spPr>
                  <a:xfrm>
                    <a:off x="5812257" y="241273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2BE9EDCF-797A-4534-B057-E61F201714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2257" y="2412738"/>
                    <a:ext cx="35922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B7C39D51-31B5-4C5E-B2FD-0D88A2958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4147" y="2398008"/>
                <a:ext cx="697338" cy="65944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285159C0-8982-4BC5-B124-BEE33828F0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36332" y="2436609"/>
                <a:ext cx="722129" cy="597163"/>
              </a:xfrm>
              <a:prstGeom prst="straightConnector1">
                <a:avLst/>
              </a:prstGeom>
              <a:ln>
                <a:prstDash val="dash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EEAC33-E438-4F49-8C21-82A7414B6CCC}"/>
                    </a:ext>
                  </a:extLst>
                </p:cNvPr>
                <p:cNvSpPr txBox="1"/>
                <p:nvPr/>
              </p:nvSpPr>
              <p:spPr>
                <a:xfrm>
                  <a:off x="4056621" y="3891077"/>
                  <a:ext cx="2743200" cy="258532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For </a:t>
                  </a:r>
                  <a:r>
                    <a:rPr lang="en-US" i="1" dirty="0"/>
                    <a:t>every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is ‘surjective for maps from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dirty="0"/>
                    <a:t>’,  i.e. </a:t>
                  </a:r>
                  <a:r>
                    <a:rPr lang="en-US" i="1" dirty="0"/>
                    <a:t>every</a:t>
                  </a:r>
                  <a:r>
                    <a:rPr lang="en-US" dirty="0"/>
                    <a:t> choice problem</a:t>
                  </a:r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r>
                    <a:rPr lang="en-US" dirty="0"/>
                    <a:t>has a solution</a:t>
                  </a:r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5EEAC33-E438-4F49-8C21-82A7414B6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6621" y="3891077"/>
                  <a:ext cx="2743200" cy="2585323"/>
                </a:xfrm>
                <a:prstGeom prst="rect">
                  <a:avLst/>
                </a:prstGeom>
                <a:blipFill>
                  <a:blip r:embed="rId13"/>
                  <a:stretch>
                    <a:fillRect l="-1549" t="-937" r="-1327" b="-234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72A4DF3-3161-4CE3-9690-523B631AE13C}"/>
                </a:ext>
              </a:extLst>
            </p:cNvPr>
            <p:cNvGrpSpPr/>
            <p:nvPr/>
          </p:nvGrpSpPr>
          <p:grpSpPr>
            <a:xfrm>
              <a:off x="4200510" y="4815183"/>
              <a:ext cx="2478024" cy="1370141"/>
              <a:chOff x="2248153" y="3872945"/>
              <a:chExt cx="2497151" cy="1370141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4F83CC3-6569-4910-93D2-6B2974D55617}"/>
                  </a:ext>
                </a:extLst>
              </p:cNvPr>
              <p:cNvCxnSpPr/>
              <p:nvPr/>
            </p:nvCxnSpPr>
            <p:spPr>
              <a:xfrm>
                <a:off x="2607381" y="4883327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A46C93D-7CBC-4911-A584-ACC9E2C350F7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153" y="469863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0A46C93D-7CBC-4911-A584-ACC9E2C350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8153" y="4698635"/>
                    <a:ext cx="359228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8BD96F8-C562-4C0B-B678-88D8B96F5E28}"/>
                      </a:ext>
                    </a:extLst>
                  </p:cNvPr>
                  <p:cNvSpPr txBox="1"/>
                  <p:nvPr/>
                </p:nvSpPr>
                <p:spPr>
                  <a:xfrm>
                    <a:off x="4386076" y="469863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F8BD96F8-C562-4C0B-B678-88D8B96F5E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6076" y="4698635"/>
                    <a:ext cx="359228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F5666AAA-F711-422C-8439-56D416D2495B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510" y="387294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F5666AAA-F711-422C-8439-56D416D249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510" y="3872945"/>
                    <a:ext cx="359228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116DAA39-FD3A-4F00-BF20-DC14A9C6DF64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510" y="4873754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116DAA39-FD3A-4F00-BF20-DC14A9C6DF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510" y="4873754"/>
                    <a:ext cx="359228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2BCC1EB-96FA-47F7-9B76-6F380C67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2636409" y="423408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C2BCC1EB-96FA-47F7-9B76-6F380C6710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6409" y="4234089"/>
                    <a:ext cx="359228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C1F33EC-B056-446A-8410-276CE6E36D0A}"/>
                      </a:ext>
                    </a:extLst>
                  </p:cNvPr>
                  <p:cNvSpPr txBox="1"/>
                  <p:nvPr/>
                </p:nvSpPr>
                <p:spPr>
                  <a:xfrm>
                    <a:off x="4012334" y="4141002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C1F33EC-B056-446A-8410-276CE6E36D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2334" y="4141002"/>
                    <a:ext cx="359228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55C84D18-9EE1-4094-8DAD-F2334A9D8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4224" y="4126272"/>
                <a:ext cx="697338" cy="65944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518310B-4C18-423E-851F-1EDBA510D5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6409" y="4164873"/>
                <a:ext cx="722129" cy="597163"/>
              </a:xfrm>
              <a:prstGeom prst="straightConnector1">
                <a:avLst/>
              </a:prstGeom>
              <a:ln>
                <a:prstDash val="dash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809A7DD-348D-45E2-B724-D3AD3C230A58}"/>
                </a:ext>
              </a:extLst>
            </p:cNvPr>
            <p:cNvSpPr/>
            <p:nvPr/>
          </p:nvSpPr>
          <p:spPr>
            <a:xfrm>
              <a:off x="5349146" y="1812269"/>
              <a:ext cx="264319" cy="109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5D4F8DA-25E3-4132-85E7-4D4C8F2A4877}"/>
                </a:ext>
              </a:extLst>
            </p:cNvPr>
            <p:cNvSpPr/>
            <p:nvPr/>
          </p:nvSpPr>
          <p:spPr>
            <a:xfrm>
              <a:off x="5349146" y="3812601"/>
              <a:ext cx="264319" cy="109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87694C34-AA7D-4582-9949-60A7B79BC48A}"/>
              </a:ext>
            </a:extLst>
          </p:cNvPr>
          <p:cNvGrpSpPr/>
          <p:nvPr/>
        </p:nvGrpSpPr>
        <p:grpSpPr>
          <a:xfrm>
            <a:off x="6073746" y="539726"/>
            <a:ext cx="2745602" cy="6094800"/>
            <a:chOff x="8162756" y="104601"/>
            <a:chExt cx="2745602" cy="60948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9D1A5805-6CBF-4A05-BC4E-83FBEAE5DC1B}"/>
                    </a:ext>
                  </a:extLst>
                </p:cNvPr>
                <p:cNvSpPr txBox="1"/>
                <p:nvPr/>
              </p:nvSpPr>
              <p:spPr>
                <a:xfrm>
                  <a:off x="8164195" y="104601"/>
                  <a:ext cx="2743200" cy="175432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has a </a:t>
                  </a:r>
                  <a:r>
                    <a:rPr lang="en-US" i="1" dirty="0"/>
                    <a:t>retraction</a:t>
                  </a:r>
                  <a:r>
                    <a:rPr lang="en-US" dirty="0"/>
                    <a:t>: a map 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r>
                    <a:rPr lang="en-US" dirty="0"/>
                    <a:t>Satisfying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9D1A5805-6CBF-4A05-BC4E-83FBEAE5D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4195" y="104601"/>
                  <a:ext cx="2743200" cy="1754326"/>
                </a:xfrm>
                <a:prstGeom prst="rect">
                  <a:avLst/>
                </a:prstGeom>
                <a:blipFill>
                  <a:blip r:embed="rId20"/>
                  <a:stretch>
                    <a:fillRect t="-1730" b="-449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C71D228-6985-42E5-9D92-D047954CFB69}"/>
                </a:ext>
              </a:extLst>
            </p:cNvPr>
            <p:cNvGrpSpPr/>
            <p:nvPr/>
          </p:nvGrpSpPr>
          <p:grpSpPr>
            <a:xfrm>
              <a:off x="8299482" y="456028"/>
              <a:ext cx="2497151" cy="1051471"/>
              <a:chOff x="1244104" y="1763389"/>
              <a:chExt cx="2497151" cy="1051471"/>
            </a:xfrm>
          </p:grpSpPr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787E9423-FF5D-4B79-8C36-AA521B2D83EA}"/>
                  </a:ext>
                </a:extLst>
              </p:cNvPr>
              <p:cNvCxnSpPr/>
              <p:nvPr/>
            </p:nvCxnSpPr>
            <p:spPr>
              <a:xfrm>
                <a:off x="1603332" y="2455101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7533BBD1-F6E6-48E2-AC7B-ECF0B89101B1}"/>
                  </a:ext>
                </a:extLst>
              </p:cNvPr>
              <p:cNvSpPr/>
              <p:nvPr/>
            </p:nvSpPr>
            <p:spPr>
              <a:xfrm>
                <a:off x="1441450" y="1810340"/>
                <a:ext cx="2127250" cy="920138"/>
              </a:xfrm>
              <a:prstGeom prst="arc">
                <a:avLst>
                  <a:gd name="adj1" fmla="val 10762795"/>
                  <a:gd name="adj2" fmla="val 24157"/>
                </a:avLst>
              </a:prstGeom>
              <a:ln w="12700">
                <a:solidFill>
                  <a:schemeClr val="tx1"/>
                </a:solidFill>
                <a:prstDash val="dash"/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973EDCE7-FF81-4B9C-BF71-B151F2FFFB74}"/>
                      </a:ext>
                    </a:extLst>
                  </p:cNvPr>
                  <p:cNvSpPr txBox="1"/>
                  <p:nvPr/>
                </p:nvSpPr>
                <p:spPr>
                  <a:xfrm>
                    <a:off x="1244104" y="227040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973EDCE7-FF81-4B9C-BF71-B151F2FFFB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44104" y="2270409"/>
                    <a:ext cx="359228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5F32C308-F59E-471E-BAE0-552D177F274D}"/>
                      </a:ext>
                    </a:extLst>
                  </p:cNvPr>
                  <p:cNvSpPr txBox="1"/>
                  <p:nvPr/>
                </p:nvSpPr>
                <p:spPr>
                  <a:xfrm>
                    <a:off x="3382027" y="227040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6" name="TextBox 165">
                    <a:extLst>
                      <a:ext uri="{FF2B5EF4-FFF2-40B4-BE49-F238E27FC236}">
                        <a16:creationId xmlns:a16="http://schemas.microsoft.com/office/drawing/2014/main" id="{5F32C308-F59E-471E-BAE0-552D177F27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2027" y="2270409"/>
                    <a:ext cx="359228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D8213BE-496E-4409-9C6F-9225485D14D8}"/>
                      </a:ext>
                    </a:extLst>
                  </p:cNvPr>
                  <p:cNvSpPr txBox="1"/>
                  <p:nvPr/>
                </p:nvSpPr>
                <p:spPr>
                  <a:xfrm>
                    <a:off x="2325461" y="176338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D8213BE-496E-4409-9C6F-9225485D14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5461" y="1763389"/>
                    <a:ext cx="359228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EBC26181-A471-4488-B76C-453811C7D55C}"/>
                      </a:ext>
                    </a:extLst>
                  </p:cNvPr>
                  <p:cNvSpPr txBox="1"/>
                  <p:nvPr/>
                </p:nvSpPr>
                <p:spPr>
                  <a:xfrm>
                    <a:off x="2325461" y="244552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8" name="TextBox 167">
                    <a:extLst>
                      <a:ext uri="{FF2B5EF4-FFF2-40B4-BE49-F238E27FC236}">
                        <a16:creationId xmlns:a16="http://schemas.microsoft.com/office/drawing/2014/main" id="{EBC26181-A471-4488-B76C-453811C7D5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5461" y="2445528"/>
                    <a:ext cx="359228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0E3728C1-3D84-4C68-8A63-FCD612ECDD8D}"/>
                </a:ext>
              </a:extLst>
            </p:cNvPr>
            <p:cNvSpPr txBox="1"/>
            <p:nvPr/>
          </p:nvSpPr>
          <p:spPr>
            <a:xfrm>
              <a:off x="8162756" y="1859097"/>
              <a:ext cx="2743200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dirty="0"/>
                <a:t>The determination problem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has a solution</a:t>
              </a: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70057328-115E-46B7-A69F-9DB5907ED487}"/>
                </a:ext>
              </a:extLst>
            </p:cNvPr>
            <p:cNvGrpSpPr/>
            <p:nvPr/>
          </p:nvGrpSpPr>
          <p:grpSpPr>
            <a:xfrm>
              <a:off x="8283165" y="2140756"/>
              <a:ext cx="2497151" cy="1370141"/>
              <a:chOff x="4048076" y="2144681"/>
              <a:chExt cx="2497151" cy="1370141"/>
            </a:xfrm>
          </p:grpSpPr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8376AEE9-AC6A-414C-8D68-3E783AE85F61}"/>
                  </a:ext>
                </a:extLst>
              </p:cNvPr>
              <p:cNvCxnSpPr/>
              <p:nvPr/>
            </p:nvCxnSpPr>
            <p:spPr>
              <a:xfrm>
                <a:off x="4407304" y="3155063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68B09477-0845-43FD-A472-F41E0F36C183}"/>
                      </a:ext>
                    </a:extLst>
                  </p:cNvPr>
                  <p:cNvSpPr txBox="1"/>
                  <p:nvPr/>
                </p:nvSpPr>
                <p:spPr>
                  <a:xfrm>
                    <a:off x="4048076" y="297037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68B09477-0845-43FD-A472-F41E0F36C1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8076" y="2970371"/>
                    <a:ext cx="359228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AA1CFEC1-649A-4305-8C6D-FF02607E30BF}"/>
                      </a:ext>
                    </a:extLst>
                  </p:cNvPr>
                  <p:cNvSpPr txBox="1"/>
                  <p:nvPr/>
                </p:nvSpPr>
                <p:spPr>
                  <a:xfrm>
                    <a:off x="6185999" y="297037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AA1CFEC1-649A-4305-8C6D-FF02607E30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85999" y="2970371"/>
                    <a:ext cx="359228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1276A0AF-6409-4ADB-9785-02461A74A6CC}"/>
                      </a:ext>
                    </a:extLst>
                  </p:cNvPr>
                  <p:cNvSpPr txBox="1"/>
                  <p:nvPr/>
                </p:nvSpPr>
                <p:spPr>
                  <a:xfrm>
                    <a:off x="5129433" y="2144681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1276A0AF-6409-4ADB-9785-02461A74A6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9433" y="2144681"/>
                    <a:ext cx="359228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C5F885D0-62D9-4D65-A885-AF2D25EDCC24}"/>
                      </a:ext>
                    </a:extLst>
                  </p:cNvPr>
                  <p:cNvSpPr txBox="1"/>
                  <p:nvPr/>
                </p:nvSpPr>
                <p:spPr>
                  <a:xfrm>
                    <a:off x="5129433" y="3145490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C5F885D0-62D9-4D65-A885-AF2D25EDCC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9433" y="3145490"/>
                    <a:ext cx="359228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FD57B2BF-B136-4C51-AC5B-5AC768422BBD}"/>
                      </a:ext>
                    </a:extLst>
                  </p:cNvPr>
                  <p:cNvSpPr txBox="1"/>
                  <p:nvPr/>
                </p:nvSpPr>
                <p:spPr>
                  <a:xfrm>
                    <a:off x="4436332" y="250582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FD57B2BF-B136-4C51-AC5B-5AC768422B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36332" y="2505825"/>
                    <a:ext cx="359228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71E74AE4-E090-4D55-B9FA-3B4AB2D2C043}"/>
                      </a:ext>
                    </a:extLst>
                  </p:cNvPr>
                  <p:cNvSpPr txBox="1"/>
                  <p:nvPr/>
                </p:nvSpPr>
                <p:spPr>
                  <a:xfrm>
                    <a:off x="5812257" y="241273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71E74AE4-E090-4D55-B9FA-3B4AB2D2C0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12257" y="2412738"/>
                    <a:ext cx="359228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r="-86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1" name="Straight Arrow Connector 160">
                <a:extLst>
                  <a:ext uri="{FF2B5EF4-FFF2-40B4-BE49-F238E27FC236}">
                    <a16:creationId xmlns:a16="http://schemas.microsoft.com/office/drawing/2014/main" id="{7F13E2DA-ABF5-4A56-A450-8F4C72FA1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74147" y="2398008"/>
                <a:ext cx="697338" cy="65944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50A9F5E3-4169-4669-A17B-44641860C6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36332" y="2436609"/>
                <a:ext cx="722129" cy="597163"/>
              </a:xfrm>
              <a:prstGeom prst="straightConnector1">
                <a:avLst/>
              </a:prstGeom>
              <a:ln>
                <a:prstDash val="dash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2207F62-CC30-4B84-B883-FEFEEDCD6A55}"/>
                    </a:ext>
                  </a:extLst>
                </p:cNvPr>
                <p:cNvSpPr txBox="1"/>
                <p:nvPr/>
              </p:nvSpPr>
              <p:spPr>
                <a:xfrm>
                  <a:off x="8165158" y="3891077"/>
                  <a:ext cx="2743200" cy="230832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For </a:t>
                  </a:r>
                  <a:r>
                    <a:rPr lang="en-US" i="1" dirty="0"/>
                    <a:t>every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i="1" dirty="0"/>
                    <a:t>, every</a:t>
                  </a:r>
                  <a:r>
                    <a:rPr lang="en-US" dirty="0"/>
                    <a:t> determination problem</a:t>
                  </a:r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r>
                    <a:rPr lang="en-US" dirty="0"/>
                    <a:t>has a solution</a:t>
                  </a:r>
                </a:p>
              </p:txBody>
            </p:sp>
          </mc:Choice>
          <mc:Fallback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62207F62-CC30-4B84-B883-FEFEEDCD6A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5158" y="3891077"/>
                  <a:ext cx="2743200" cy="2308324"/>
                </a:xfrm>
                <a:prstGeom prst="rect">
                  <a:avLst/>
                </a:prstGeom>
                <a:blipFill>
                  <a:blip r:embed="rId31"/>
                  <a:stretch>
                    <a:fillRect t="-1316" b="-315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B904A739-FA1A-4E2E-9CED-4A3074DF30E3}"/>
                </a:ext>
              </a:extLst>
            </p:cNvPr>
            <p:cNvGrpSpPr/>
            <p:nvPr/>
          </p:nvGrpSpPr>
          <p:grpSpPr>
            <a:xfrm>
              <a:off x="8309047" y="4426877"/>
              <a:ext cx="2478024" cy="1370141"/>
              <a:chOff x="2248153" y="3872945"/>
              <a:chExt cx="2497151" cy="1370141"/>
            </a:xfrm>
          </p:grpSpPr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D1E57E7F-7C48-468A-AEB1-0419598A4912}"/>
                  </a:ext>
                </a:extLst>
              </p:cNvPr>
              <p:cNvCxnSpPr/>
              <p:nvPr/>
            </p:nvCxnSpPr>
            <p:spPr>
              <a:xfrm>
                <a:off x="2607381" y="4883327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F9DF089-A95E-44DB-901E-3E9BC3826377}"/>
                      </a:ext>
                    </a:extLst>
                  </p:cNvPr>
                  <p:cNvSpPr txBox="1"/>
                  <p:nvPr/>
                </p:nvSpPr>
                <p:spPr>
                  <a:xfrm>
                    <a:off x="2248153" y="469863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1F9DF089-A95E-44DB-901E-3E9BC38263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48153" y="4698635"/>
                    <a:ext cx="359228" cy="369332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D233CFFE-6E99-476A-B683-9DD5FD227C6D}"/>
                      </a:ext>
                    </a:extLst>
                  </p:cNvPr>
                  <p:cNvSpPr txBox="1"/>
                  <p:nvPr/>
                </p:nvSpPr>
                <p:spPr>
                  <a:xfrm>
                    <a:off x="4386076" y="469863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D233CFFE-6E99-476A-B683-9DD5FD227C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6076" y="4698635"/>
                    <a:ext cx="359228" cy="369332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D5164C6A-3D79-4DAA-902E-33FC7ABB04D8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510" y="3872945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D5164C6A-3D79-4DAA-902E-33FC7ABB04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510" y="3872945"/>
                    <a:ext cx="359228" cy="369332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D92CB260-77AA-496A-9AF2-D67FFBECBD53}"/>
                      </a:ext>
                    </a:extLst>
                  </p:cNvPr>
                  <p:cNvSpPr txBox="1"/>
                  <p:nvPr/>
                </p:nvSpPr>
                <p:spPr>
                  <a:xfrm>
                    <a:off x="3329510" y="4873754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D92CB260-77AA-496A-9AF2-D67FFBECBD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9510" y="4873754"/>
                    <a:ext cx="359228" cy="369332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077159E5-D531-4F6A-8FD2-1A67C764EABA}"/>
                      </a:ext>
                    </a:extLst>
                  </p:cNvPr>
                  <p:cNvSpPr txBox="1"/>
                  <p:nvPr/>
                </p:nvSpPr>
                <p:spPr>
                  <a:xfrm>
                    <a:off x="2636409" y="4234089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077159E5-D531-4F6A-8FD2-1A67C764EA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36409" y="4234089"/>
                    <a:ext cx="359228" cy="369332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CBF264FF-EB2F-46A1-9282-AE9C3AA800FA}"/>
                      </a:ext>
                    </a:extLst>
                  </p:cNvPr>
                  <p:cNvSpPr txBox="1"/>
                  <p:nvPr/>
                </p:nvSpPr>
                <p:spPr>
                  <a:xfrm>
                    <a:off x="4012334" y="4141002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CBF264FF-EB2F-46A1-9282-AE9C3AA800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2334" y="4141002"/>
                    <a:ext cx="359228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2" name="Straight Arrow Connector 151">
                <a:extLst>
                  <a:ext uri="{FF2B5EF4-FFF2-40B4-BE49-F238E27FC236}">
                    <a16:creationId xmlns:a16="http://schemas.microsoft.com/office/drawing/2014/main" id="{86D47608-63EB-48A5-9B20-7F7BBDBF2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4224" y="4126272"/>
                <a:ext cx="697338" cy="659447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6636D7CA-ADED-45D3-908A-87EC9A93A2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36409" y="4164873"/>
                <a:ext cx="722129" cy="597163"/>
              </a:xfrm>
              <a:prstGeom prst="straightConnector1">
                <a:avLst/>
              </a:prstGeom>
              <a:ln>
                <a:prstDash val="dash"/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31CC9CC8-8A6C-4F6D-AE4B-E32D70528DF1}"/>
                </a:ext>
              </a:extLst>
            </p:cNvPr>
            <p:cNvSpPr/>
            <p:nvPr/>
          </p:nvSpPr>
          <p:spPr>
            <a:xfrm>
              <a:off x="9457683" y="1812269"/>
              <a:ext cx="264319" cy="109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A4BA5B0-B8BB-4842-B0CE-61C1E473ADB9}"/>
                </a:ext>
              </a:extLst>
            </p:cNvPr>
            <p:cNvSpPr/>
            <p:nvPr/>
          </p:nvSpPr>
          <p:spPr>
            <a:xfrm>
              <a:off x="9457683" y="3812601"/>
              <a:ext cx="264319" cy="109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or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B4FEAF0-5301-47E5-8600-6BA6DCFDB81C}"/>
              </a:ext>
            </a:extLst>
          </p:cNvPr>
          <p:cNvGrpSpPr/>
          <p:nvPr/>
        </p:nvGrpSpPr>
        <p:grpSpPr>
          <a:xfrm>
            <a:off x="183622" y="1567380"/>
            <a:ext cx="2743200" cy="2862322"/>
            <a:chOff x="231749" y="2492597"/>
            <a:chExt cx="2743200" cy="286232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91658411-0CAF-4137-96F1-917381FAF438}"/>
                    </a:ext>
                  </a:extLst>
                </p:cNvPr>
                <p:cNvSpPr txBox="1"/>
                <p:nvPr/>
              </p:nvSpPr>
              <p:spPr>
                <a:xfrm>
                  <a:off x="231749" y="2492597"/>
                  <a:ext cx="2743200" cy="286232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is an isomorphism, or invertible map, i.e.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US" dirty="0"/>
                    <a:t> has an inverse,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endParaRPr lang="en-US" dirty="0"/>
                </a:p>
                <a:p>
                  <a:pPr algn="ctr"/>
                  <a:r>
                    <a:rPr lang="en-US" dirty="0"/>
                    <a:t>Satisfying both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a14:m>
                  <a:r>
                    <a:rPr lang="en-US" dirty="0"/>
                    <a:t> and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91658411-0CAF-4137-96F1-917381FAF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749" y="2492597"/>
                  <a:ext cx="2743200" cy="2862322"/>
                </a:xfrm>
                <a:prstGeom prst="rect">
                  <a:avLst/>
                </a:prstGeom>
                <a:blipFill>
                  <a:blip r:embed="rId38"/>
                  <a:stretch>
                    <a:fillRect t="-847" b="-211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3CAC858D-8C2E-4916-A4A6-345D3AA5335C}"/>
                </a:ext>
              </a:extLst>
            </p:cNvPr>
            <p:cNvGrpSpPr/>
            <p:nvPr/>
          </p:nvGrpSpPr>
          <p:grpSpPr>
            <a:xfrm>
              <a:off x="366000" y="3288800"/>
              <a:ext cx="2468591" cy="1391404"/>
              <a:chOff x="338555" y="782040"/>
              <a:chExt cx="2468591" cy="1391404"/>
            </a:xfrm>
          </p:grpSpPr>
          <p:sp>
            <p:nvSpPr>
              <p:cNvPr id="171" name="Arc 170">
                <a:extLst>
                  <a:ext uri="{FF2B5EF4-FFF2-40B4-BE49-F238E27FC236}">
                    <a16:creationId xmlns:a16="http://schemas.microsoft.com/office/drawing/2014/main" id="{A483370D-6429-4728-9D7E-DE5A074B1565}"/>
                  </a:ext>
                </a:extLst>
              </p:cNvPr>
              <p:cNvSpPr/>
              <p:nvPr/>
            </p:nvSpPr>
            <p:spPr>
              <a:xfrm>
                <a:off x="525908" y="1160973"/>
                <a:ext cx="2127250" cy="920138"/>
              </a:xfrm>
              <a:prstGeom prst="arc">
                <a:avLst>
                  <a:gd name="adj1" fmla="val 10762795"/>
                  <a:gd name="adj2" fmla="val 24157"/>
                </a:avLst>
              </a:prstGeom>
              <a:ln w="12700">
                <a:solidFill>
                  <a:schemeClr val="tx1"/>
                </a:solidFill>
                <a:prstDash val="dash"/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8" name="Straight Arrow Connector 177">
                <a:extLst>
                  <a:ext uri="{FF2B5EF4-FFF2-40B4-BE49-F238E27FC236}">
                    <a16:creationId xmlns:a16="http://schemas.microsoft.com/office/drawing/2014/main" id="{76DCA9E7-C1F2-4F72-959C-B657080BC76C}"/>
                  </a:ext>
                </a:extLst>
              </p:cNvPr>
              <p:cNvCxnSpPr/>
              <p:nvPr/>
            </p:nvCxnSpPr>
            <p:spPr>
              <a:xfrm>
                <a:off x="700185" y="1772124"/>
                <a:ext cx="1778695" cy="0"/>
              </a:xfrm>
              <a:prstGeom prst="straightConnector1">
                <a:avLst/>
              </a:prstGeom>
              <a:ln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7BDDFB0E-C972-402F-A8C2-8F1732C28CFA}"/>
                      </a:ext>
                    </a:extLst>
                  </p:cNvPr>
                  <p:cNvSpPr txBox="1"/>
                  <p:nvPr/>
                </p:nvSpPr>
                <p:spPr>
                  <a:xfrm>
                    <a:off x="338555" y="158745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7BDDFB0E-C972-402F-A8C2-8F1732C28C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8555" y="1587458"/>
                    <a:ext cx="359228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02B64FCE-FA0A-4681-8CEC-DEF04AEB375B}"/>
                      </a:ext>
                    </a:extLst>
                  </p:cNvPr>
                  <p:cNvSpPr txBox="1"/>
                  <p:nvPr/>
                </p:nvSpPr>
                <p:spPr>
                  <a:xfrm>
                    <a:off x="2447918" y="1587458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02B64FCE-FA0A-4681-8CEC-DEF04AEB37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7918" y="1587458"/>
                    <a:ext cx="359228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36DFCAE6-3ECE-4BA9-860E-A0D2BE3D439D}"/>
                      </a:ext>
                    </a:extLst>
                  </p:cNvPr>
                  <p:cNvSpPr txBox="1"/>
                  <p:nvPr/>
                </p:nvSpPr>
                <p:spPr>
                  <a:xfrm>
                    <a:off x="1423735" y="782040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36DFCAE6-3ECE-4BA9-860E-A0D2BE3D43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23735" y="782040"/>
                    <a:ext cx="359228" cy="369332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BA72A7F8-A7E0-4F9C-B41B-E981335A725E}"/>
                      </a:ext>
                    </a:extLst>
                  </p:cNvPr>
                  <p:cNvSpPr txBox="1"/>
                  <p:nvPr/>
                </p:nvSpPr>
                <p:spPr>
                  <a:xfrm>
                    <a:off x="1405302" y="1804112"/>
                    <a:ext cx="35922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BA72A7F8-A7E0-4F9C-B41B-E981335A72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05302" y="1804112"/>
                    <a:ext cx="359228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8D573D5-DFE2-473F-BDAC-7FA268D0403C}"/>
                  </a:ext>
                </a:extLst>
              </p:cNvPr>
              <p:cNvSpPr txBox="1"/>
              <p:nvPr/>
            </p:nvSpPr>
            <p:spPr>
              <a:xfrm>
                <a:off x="9272407" y="340263"/>
                <a:ext cx="2743200" cy="230832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, and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then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an epimorphism)</a:t>
                </a:r>
              </a:p>
            </p:txBody>
          </p:sp>
        </mc:Choice>
        <mc:Fallback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A8D573D5-DFE2-473F-BDAC-7FA268D04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07" y="340263"/>
                <a:ext cx="2743200" cy="2308324"/>
              </a:xfrm>
              <a:prstGeom prst="rect">
                <a:avLst/>
              </a:prstGeom>
              <a:blipFill>
                <a:blip r:embed="rId43"/>
                <a:stretch>
                  <a:fillRect t="-1316" b="-315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EF20F03-BA64-4799-92F0-81DCB5158489}"/>
              </a:ext>
            </a:extLst>
          </p:cNvPr>
          <p:cNvGrpSpPr/>
          <p:nvPr/>
        </p:nvGrpSpPr>
        <p:grpSpPr>
          <a:xfrm>
            <a:off x="9761140" y="708850"/>
            <a:ext cx="1765734" cy="964545"/>
            <a:chOff x="376457" y="1208899"/>
            <a:chExt cx="1765734" cy="9645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3CEA56D9-DB38-4A29-BCA2-4DFDFD0F5A32}"/>
                    </a:ext>
                  </a:extLst>
                </p:cNvPr>
                <p:cNvSpPr txBox="1"/>
                <p:nvPr/>
              </p:nvSpPr>
              <p:spPr>
                <a:xfrm>
                  <a:off x="376457" y="1506428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3CEA56D9-DB38-4A29-BCA2-4DFDFD0F5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57" y="1506428"/>
                  <a:ext cx="359228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243FBF8D-F346-4707-A98F-DB8508439819}"/>
                    </a:ext>
                  </a:extLst>
                </p:cNvPr>
                <p:cNvSpPr txBox="1"/>
                <p:nvPr/>
              </p:nvSpPr>
              <p:spPr>
                <a:xfrm>
                  <a:off x="1782963" y="1504526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243FBF8D-F346-4707-A98F-DB8508439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2963" y="1504526"/>
                  <a:ext cx="359228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15239886-3A0B-4CEA-9677-7902550DD574}"/>
                    </a:ext>
                  </a:extLst>
                </p:cNvPr>
                <p:cNvSpPr txBox="1"/>
                <p:nvPr/>
              </p:nvSpPr>
              <p:spPr>
                <a:xfrm>
                  <a:off x="1084057" y="1804112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15239886-3A0B-4CEA-9677-7902550DD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57" y="1804112"/>
                  <a:ext cx="359228" cy="369332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58A02CC3-A386-489D-AADD-09EC17DC6E58}"/>
                </a:ext>
              </a:extLst>
            </p:cNvPr>
            <p:cNvCxnSpPr>
              <a:cxnSpLocks/>
            </p:cNvCxnSpPr>
            <p:nvPr/>
          </p:nvCxnSpPr>
          <p:spPr>
            <a:xfrm>
              <a:off x="700185" y="1598838"/>
              <a:ext cx="1082778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Straight Arrow Connector 195">
              <a:extLst>
                <a:ext uri="{FF2B5EF4-FFF2-40B4-BE49-F238E27FC236}">
                  <a16:creationId xmlns:a16="http://schemas.microsoft.com/office/drawing/2014/main" id="{412D6694-BB46-4FCB-ABBA-1002091FD8C1}"/>
                </a:ext>
              </a:extLst>
            </p:cNvPr>
            <p:cNvCxnSpPr>
              <a:cxnSpLocks/>
            </p:cNvCxnSpPr>
            <p:nvPr/>
          </p:nvCxnSpPr>
          <p:spPr>
            <a:xfrm>
              <a:off x="700185" y="1804112"/>
              <a:ext cx="1082778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A2193D8F-AB13-48D2-9295-A4B09ABEA88A}"/>
                    </a:ext>
                  </a:extLst>
                </p:cNvPr>
                <p:cNvSpPr txBox="1"/>
                <p:nvPr/>
              </p:nvSpPr>
              <p:spPr>
                <a:xfrm>
                  <a:off x="1084057" y="1208899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A2193D8F-AB13-48D2-9295-A4B09ABEA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57" y="1208899"/>
                  <a:ext cx="359228" cy="369332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CD2028D-00AA-4FEF-A43E-F581A4FCCFA8}"/>
                  </a:ext>
                </a:extLst>
              </p:cNvPr>
              <p:cNvSpPr txBox="1"/>
              <p:nvPr/>
            </p:nvSpPr>
            <p:spPr>
              <a:xfrm>
                <a:off x="9272407" y="3442769"/>
                <a:ext cx="2743200" cy="25853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injective for maps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i.e. for every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∘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then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a monomorphism)</a:t>
                </a:r>
              </a:p>
            </p:txBody>
          </p:sp>
        </mc:Choice>
        <mc:Fallback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1CD2028D-00AA-4FEF-A43E-F581A4FCC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2407" y="3442769"/>
                <a:ext cx="2743200" cy="2585323"/>
              </a:xfrm>
              <a:prstGeom prst="rect">
                <a:avLst/>
              </a:prstGeom>
              <a:blipFill>
                <a:blip r:embed="rId48"/>
                <a:stretch>
                  <a:fillRect t="-1174" b="-258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B015C08-8BF1-48FE-9706-36C85AD1371D}"/>
              </a:ext>
            </a:extLst>
          </p:cNvPr>
          <p:cNvGrpSpPr/>
          <p:nvPr/>
        </p:nvGrpSpPr>
        <p:grpSpPr>
          <a:xfrm>
            <a:off x="9761140" y="4189385"/>
            <a:ext cx="1765734" cy="964545"/>
            <a:chOff x="376457" y="1208899"/>
            <a:chExt cx="1765734" cy="96454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DE37609A-6813-433D-97C0-113524EFDF26}"/>
                    </a:ext>
                  </a:extLst>
                </p:cNvPr>
                <p:cNvSpPr txBox="1"/>
                <p:nvPr/>
              </p:nvSpPr>
              <p:spPr>
                <a:xfrm>
                  <a:off x="376457" y="1506428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DE37609A-6813-433D-97C0-113524EFD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457" y="1506428"/>
                  <a:ext cx="359228" cy="369332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B9E0A1B-54BB-4CCF-A4CB-B06459C6CEEE}"/>
                    </a:ext>
                  </a:extLst>
                </p:cNvPr>
                <p:cNvSpPr txBox="1"/>
                <p:nvPr/>
              </p:nvSpPr>
              <p:spPr>
                <a:xfrm>
                  <a:off x="1782963" y="1504526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9B9E0A1B-54BB-4CCF-A4CB-B06459C6C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2963" y="1504526"/>
                  <a:ext cx="359228" cy="369332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95884A84-03DC-4CF9-9ACA-4878EA722EAD}"/>
                    </a:ext>
                  </a:extLst>
                </p:cNvPr>
                <p:cNvSpPr txBox="1"/>
                <p:nvPr/>
              </p:nvSpPr>
              <p:spPr>
                <a:xfrm>
                  <a:off x="1084057" y="1804112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95884A84-03DC-4CF9-9ACA-4878EA722E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57" y="1804112"/>
                  <a:ext cx="359228" cy="369332"/>
                </a:xfrm>
                <a:prstGeom prst="rect">
                  <a:avLst/>
                </a:prstGeom>
                <a:blipFill>
                  <a:blip r:embed="rId51"/>
                  <a:stretch>
                    <a:fillRect r="-50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040FC60F-D4DB-4790-9144-63E621F32B79}"/>
                </a:ext>
              </a:extLst>
            </p:cNvPr>
            <p:cNvCxnSpPr>
              <a:cxnSpLocks/>
            </p:cNvCxnSpPr>
            <p:nvPr/>
          </p:nvCxnSpPr>
          <p:spPr>
            <a:xfrm>
              <a:off x="700185" y="1598838"/>
              <a:ext cx="1082778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FE80BDBE-C60F-4FDD-A240-ADDA22D2CCA6}"/>
                </a:ext>
              </a:extLst>
            </p:cNvPr>
            <p:cNvCxnSpPr>
              <a:cxnSpLocks/>
            </p:cNvCxnSpPr>
            <p:nvPr/>
          </p:nvCxnSpPr>
          <p:spPr>
            <a:xfrm>
              <a:off x="700185" y="1804112"/>
              <a:ext cx="1082778" cy="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8519A3FF-6F29-4EF0-B440-2F99B3FBF11E}"/>
                    </a:ext>
                  </a:extLst>
                </p:cNvPr>
                <p:cNvSpPr txBox="1"/>
                <p:nvPr/>
              </p:nvSpPr>
              <p:spPr>
                <a:xfrm>
                  <a:off x="1084057" y="1208899"/>
                  <a:ext cx="3592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8519A3FF-6F29-4EF0-B440-2F99B3FBF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57" y="1208899"/>
                  <a:ext cx="359228" cy="369332"/>
                </a:xfrm>
                <a:prstGeom prst="rect">
                  <a:avLst/>
                </a:prstGeom>
                <a:blipFill>
                  <a:blip r:embed="rId52"/>
                  <a:stretch>
                    <a:fillRect r="-3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496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216</Words>
  <Application>Microsoft Office PowerPoint</Application>
  <PresentationFormat>Widescreen</PresentationFormat>
  <Paragraphs>108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8</cp:revision>
  <dcterms:created xsi:type="dcterms:W3CDTF">2021-02-07T14:43:27Z</dcterms:created>
  <dcterms:modified xsi:type="dcterms:W3CDTF">2021-02-08T03:34:22Z</dcterms:modified>
</cp:coreProperties>
</file>